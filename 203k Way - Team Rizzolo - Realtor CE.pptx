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1417320" cy="1508760"/>
          </a:xfrm>
          <a:prstGeom prst="rect">
            <a:avLst/>
          </a:prstGeom>
        </p:spPr>
      </p:pic>
      <p:pic>
        <p:nvPicPr>
          <p:cNvPr id="4" name="Picture 3" descr="wa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48640"/>
            <a:ext cx="2971800" cy="11612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51460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32"/>
              </a:spcAft>
            </a:pPr>
            <a:r>
              <a:rPr sz="5000" b="0" i="0">
                <a:solidFill>
                  <a:srgbClr val="FFFFFF"/>
                </a:solidFill>
                <a:latin typeface="Arial Black"/>
              </a:rPr>
              <a:t>Flipping the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61188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The Real Side of the </a:t>
            </a:r>
            <a:r>
              <a:rPr sz="2500" b="1" i="0">
                <a:solidFill>
                  <a:srgbClr val="B4F319"/>
                </a:solidFill>
                <a:latin typeface="Arial"/>
              </a:rPr>
              <a:t>203(k) Loan</a:t>
            </a:r>
            <a:r>
              <a:rPr sz="2500" b="1" i="0">
                <a:solidFill>
                  <a:srgbClr val="FFFFFF"/>
                </a:solidFill>
                <a:latin typeface="Arial"/>
              </a:rPr>
              <a:t> Every Agent Must Know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4892040"/>
            <a:ext cx="3108960" cy="41148"/>
          </a:xfrm>
          <a:prstGeom prst="rect">
            <a:avLst/>
          </a:prstGeom>
          <a:solidFill>
            <a:srgbClr val="CB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13892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1" i="0">
                <a:solidFill>
                  <a:srgbClr val="ECC371"/>
                </a:solidFill>
                <a:latin typeface="Arial"/>
              </a:rPr>
              <a:t>Salvatore Rizzolo</a:t>
            </a:r>
            <a:r>
              <a:rPr sz="1450" b="0" i="0">
                <a:solidFill>
                  <a:srgbClr val="9AA4B2"/>
                </a:solidFill>
                <a:latin typeface="Arial"/>
              </a:rPr>
              <a:t>   Branch Manager · New American Funding · NMLS #1927344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532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300" b="0" i="1">
                <a:solidFill>
                  <a:srgbClr val="9AA4B2"/>
                </a:solidFill>
                <a:latin typeface="Georgia"/>
              </a:rPr>
              <a:t>A continuing-education session for real estate professionals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75488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20"/>
              </a:spcAft>
            </a:pPr>
            <a:r>
              <a:rPr sz="1300" b="1" i="0">
                <a:solidFill>
                  <a:srgbClr val="CBA24A"/>
                </a:solidFill>
                <a:latin typeface="Arial"/>
              </a:rPr>
              <a:t>BEFORE WE BEGIN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1155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A1D23"/>
                </a:solidFill>
                <a:latin typeface="Arial Black"/>
              </a:rPr>
              <a:t>I'm going to challenge everything you think you </a:t>
            </a:r>
            <a:r>
              <a:rPr sz="3000" b="0" i="0">
                <a:solidFill>
                  <a:srgbClr val="5E8A1F"/>
                </a:solidFill>
                <a:latin typeface="Arial Black"/>
              </a:rPr>
              <a:t>know about the 203(k).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48840"/>
            <a:ext cx="68580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584"/>
              </a:spcAft>
            </a:pPr>
            <a:r>
              <a:rPr sz="1700" b="0" i="0">
                <a:solidFill>
                  <a:srgbClr val="5B6470"/>
                </a:solidFill>
                <a:latin typeface="Arial"/>
              </a:rPr>
              <a:t>This isn't theory. It's the </a:t>
            </a:r>
            <a:r>
              <a:rPr sz="1700" b="1" i="0">
                <a:solidFill>
                  <a:srgbClr val="5B6470"/>
                </a:solidFill>
                <a:latin typeface="Arial"/>
              </a:rPr>
              <a:t>no-BS field guide</a:t>
            </a:r>
            <a:r>
              <a:rPr sz="1700" b="0" i="0">
                <a:solidFill>
                  <a:srgbClr val="5B6470"/>
                </a:solidFill>
                <a:latin typeface="Arial"/>
              </a:rPr>
              <a:t> to a strategy 99% of agents don't understand — and don't even know exists.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584"/>
              </a:spcAft>
            </a:pPr>
            <a:r>
              <a:rPr sz="1700" b="0" i="0">
                <a:solidFill>
                  <a:srgbClr val="5B6470"/>
                </a:solidFill>
                <a:latin typeface="Arial"/>
              </a:rPr>
              <a:t>By the end you'll see how one loan revives priced-out buyers, rescues stale listings, and turns outdated houses into </a:t>
            </a:r>
            <a:r>
              <a:rPr sz="1700" b="1" i="0">
                <a:solidFill>
                  <a:srgbClr val="5E8A1F"/>
                </a:solidFill>
                <a:latin typeface="Arial"/>
              </a:rPr>
              <a:t>equity-building machines</a:t>
            </a:r>
            <a:r>
              <a:rPr sz="1700" b="0" i="0">
                <a:solidFill>
                  <a:srgbClr val="5B6470"/>
                </a:solidFill>
                <a:latin typeface="Arial"/>
              </a:rPr>
              <a:t> — without you becoming a loan expert.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B6470"/>
                </a:solidFill>
                <a:latin typeface="Arial"/>
              </a:rPr>
              <a:t>The best part? You just need to know how to </a:t>
            </a:r>
            <a:r>
              <a:rPr sz="1700" b="1" i="0">
                <a:solidFill>
                  <a:srgbClr val="5B6470"/>
                </a:solidFill>
                <a:latin typeface="Arial"/>
              </a:rPr>
              <a:t>open the right door.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2011680"/>
            <a:ext cx="3611880" cy="4023360"/>
          </a:xfrm>
          <a:prstGeom prst="roundRect">
            <a:avLst>
              <a:gd name="adj" fmla="val 4050"/>
            </a:avLst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2743200"/>
            <a:ext cx="3611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0" b="0" i="0">
                <a:solidFill>
                  <a:srgbClr val="B4F319"/>
                </a:solidFill>
                <a:latin typeface="Arial Black"/>
              </a:rPr>
              <a:t>99%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3977639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72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of real estate professionals never offer this — which is exactly why it's your edge.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8A1F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470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5E8A1F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20"/>
              </a:spcAft>
            </a:pPr>
            <a:r>
              <a:rPr sz="1300" b="1" i="0">
                <a:solidFill>
                  <a:srgbClr val="ECC371"/>
                </a:solidFill>
                <a:latin typeface="Arial"/>
              </a:rPr>
              <a:t>THE OPPORTUNITY IS HIDING IN PLAIN 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67665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Arial Black"/>
              </a:rPr>
              <a:t>New York has the </a:t>
            </a:r>
            <a:r>
              <a:rPr sz="4000" b="0" i="0">
                <a:solidFill>
                  <a:srgbClr val="B4F319"/>
                </a:solidFill>
                <a:latin typeface="Arial Black"/>
              </a:rPr>
              <a:t>oldest houses</a:t>
            </a:r>
            <a:r>
              <a:rPr sz="4000" b="0" i="0">
                <a:solidFill>
                  <a:srgbClr val="FFFFFF"/>
                </a:solidFill>
                <a:latin typeface="Arial Black"/>
              </a:rPr>
              <a:t> in America.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20040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600" b="0" i="0">
                <a:solidFill>
                  <a:srgbClr val="9AA4B2"/>
                </a:solidFill>
                <a:latin typeface="Arial"/>
              </a:rPr>
              <a:t>Median age of a New York 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611880"/>
            <a:ext cx="6766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00" b="0" i="0">
                <a:solidFill>
                  <a:srgbClr val="FFFFFF"/>
                </a:solidFill>
                <a:latin typeface="Arial Black"/>
              </a:rPr>
              <a:t>62 YEARS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212080"/>
            <a:ext cx="6583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720"/>
              </a:spcAft>
            </a:pPr>
            <a:r>
              <a:rPr sz="1600" b="0" i="0">
                <a:solidFill>
                  <a:srgbClr val="9AA4B2"/>
                </a:solidFill>
                <a:latin typeface="Arial"/>
              </a:rPr>
              <a:t>Old bones mean condition issues, dated layouts, and buyers who assume they can't afford the fix. Every one of those is a 203(k) opportunity.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097280"/>
            <a:ext cx="3703320" cy="4754880"/>
          </a:xfrm>
          <a:prstGeom prst="roundRect">
            <a:avLst>
              <a:gd name="adj" fmla="val 395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554480"/>
            <a:ext cx="3703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B4F319"/>
                </a:solidFill>
                <a:latin typeface="Arial Black"/>
              </a:rPr>
              <a:t>A QUARTER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286000"/>
            <a:ext cx="3154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of today's market involves a home that needs work — and most agents walk right past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3611880"/>
            <a:ext cx="3154680" cy="18288"/>
          </a:xfrm>
          <a:prstGeom prst="rect">
            <a:avLst/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886200"/>
            <a:ext cx="3154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9AA4B2"/>
                </a:solidFill>
                <a:latin typeface="Arial"/>
              </a:rPr>
              <a:t>Killing sale price. Dragging out days on market. Sending your buyers to someone who </a:t>
            </a:r>
            <a:r>
              <a:rPr sz="1550" b="1" i="1">
                <a:solidFill>
                  <a:srgbClr val="B4F319"/>
                </a:solidFill>
                <a:latin typeface="Arial"/>
              </a:rPr>
              <a:t>does</a:t>
            </a:r>
            <a:r>
              <a:rPr sz="1550" b="0" i="0">
                <a:solidFill>
                  <a:srgbClr val="9AA4B2"/>
                </a:solidFill>
                <a:latin typeface="Arial"/>
              </a:rPr>
              <a:t> have an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F319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B4F319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75488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20"/>
              </a:spcAft>
            </a:pPr>
            <a:r>
              <a:rPr sz="1300" b="1" i="0">
                <a:solidFill>
                  <a:srgbClr val="CBA24A"/>
                </a:solidFill>
                <a:latin typeface="Arial"/>
              </a:rPr>
              <a:t>THE PROBLEM YOUR BUYERS FEEL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1155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>
                <a:solidFill>
                  <a:srgbClr val="1A1D23"/>
                </a:solidFill>
                <a:latin typeface="Arial Black"/>
              </a:rPr>
              <a:t>Buyers are stuck between </a:t>
            </a:r>
            <a:r>
              <a:rPr sz="3300" b="0" i="0">
                <a:solidFill>
                  <a:srgbClr val="D64545"/>
                </a:solidFill>
                <a:latin typeface="Arial Black"/>
              </a:rPr>
              <a:t>two bad options.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148840"/>
            <a:ext cx="5349240" cy="3611880"/>
          </a:xfrm>
          <a:prstGeom prst="roundRect">
            <a:avLst>
              <a:gd name="adj" fmla="val 405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60"/>
              </a:spcAft>
            </a:pPr>
            <a:r>
              <a:rPr sz="3400" b="0" i="0">
                <a:solidFill>
                  <a:srgbClr val="D64545"/>
                </a:solidFill>
                <a:latin typeface="Arial Black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6324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64"/>
              </a:spcAft>
            </a:pPr>
            <a:r>
              <a:rPr sz="2000" b="0" i="0">
                <a:solidFill>
                  <a:srgbClr val="1A1D23"/>
                </a:solidFill>
                <a:latin typeface="Arial Black"/>
              </a:rPr>
              <a:t>Cut-corner new 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703320"/>
            <a:ext cx="45720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720"/>
              </a:spcAft>
            </a:pPr>
            <a:r>
              <a:rPr sz="1550" b="0" i="0">
                <a:solidFill>
                  <a:srgbClr val="5B6470"/>
                </a:solidFill>
                <a:latin typeface="Arial"/>
              </a:rPr>
              <a:t>Builder-grade everything, tiny lots, and a premium price for finishes that won't last. It looks new — until they live in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148840"/>
            <a:ext cx="5349240" cy="3611880"/>
          </a:xfrm>
          <a:prstGeom prst="roundRect">
            <a:avLst>
              <a:gd name="adj" fmla="val 405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46888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60"/>
              </a:spcAft>
            </a:pPr>
            <a:r>
              <a:rPr sz="3400" b="0" i="0">
                <a:solidFill>
                  <a:srgbClr val="D64545"/>
                </a:solidFill>
                <a:latin typeface="Arial Black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06324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64"/>
              </a:spcAft>
            </a:pPr>
            <a:r>
              <a:rPr sz="2000" b="0" i="0">
                <a:solidFill>
                  <a:srgbClr val="1A1D23"/>
                </a:solidFill>
                <a:latin typeface="Arial Black"/>
              </a:rPr>
              <a:t>Old homes they can't afford to 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03320"/>
            <a:ext cx="45720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720"/>
              </a:spcAft>
            </a:pPr>
            <a:r>
              <a:rPr sz="1550" b="0" i="0">
                <a:solidFill>
                  <a:srgbClr val="5B6470"/>
                </a:solidFill>
                <a:latin typeface="Arial"/>
              </a:rPr>
              <a:t>Great neighborhood, solid bones — but a kitchen from 1978 and no cash left after the down payment. So they pass, or get outbid.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989320"/>
            <a:ext cx="11000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900" b="1" i="0">
                <a:solidFill>
                  <a:srgbClr val="1A1D23"/>
                </a:solidFill>
                <a:latin typeface="Arial"/>
              </a:rPr>
              <a:t>The 203(k) is the </a:t>
            </a:r>
            <a:r>
              <a:rPr sz="1900" b="1" i="0">
                <a:solidFill>
                  <a:srgbClr val="5E8A1F"/>
                </a:solidFill>
                <a:latin typeface="Arial"/>
              </a:rPr>
              <a:t>third option</a:t>
            </a:r>
            <a:r>
              <a:rPr sz="1900" b="1" i="0">
                <a:solidFill>
                  <a:srgbClr val="1A1D23"/>
                </a:solidFill>
                <a:latin typeface="Arial"/>
              </a:rPr>
              <a:t> nobody offered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8A1F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470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5E8A1F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75488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20"/>
              </a:spcAft>
            </a:pPr>
            <a:r>
              <a:rPr sz="1300" b="1" i="0">
                <a:solidFill>
                  <a:srgbClr val="CBA24A"/>
                </a:solidFill>
                <a:latin typeface="Arial"/>
              </a:rPr>
              <a:t>THE PROBLEM YOUR SELLERS FEEL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1338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A1D23"/>
                </a:solidFill>
                <a:latin typeface="Arial Black"/>
              </a:rPr>
              <a:t>Condition and layout are </a:t>
            </a:r>
            <a:r>
              <a:rPr sz="3100" b="0" i="0">
                <a:solidFill>
                  <a:srgbClr val="D64545"/>
                </a:solidFill>
                <a:latin typeface="Arial Black"/>
              </a:rPr>
              <a:t>quietly costing them money.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94560"/>
            <a:ext cx="68580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40"/>
              </a:spcAft>
            </a:pPr>
            <a:r>
              <a:rPr sz="2100" b="1" i="1">
                <a:solidFill>
                  <a:srgbClr val="1A1D23"/>
                </a:solidFill>
                <a:latin typeface="Georgia"/>
              </a:rPr>
              <a:t>“Needs TLC.”  “Sold as-is.”  “Cash only.”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96"/>
              </a:spcAft>
            </a:pPr>
            <a:r>
              <a:rPr sz="1700" b="0" i="0">
                <a:solidFill>
                  <a:srgbClr val="5B6470"/>
                </a:solidFill>
                <a:latin typeface="Arial"/>
              </a:rPr>
              <a:t>Every one of those phrases tells the market: </a:t>
            </a:r>
            <a:r>
              <a:rPr sz="1700" b="1" i="0">
                <a:solidFill>
                  <a:srgbClr val="D64545"/>
                </a:solidFill>
                <a:latin typeface="Arial"/>
              </a:rPr>
              <a:t>discount me.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96"/>
              </a:spcAft>
            </a:pPr>
            <a:r>
              <a:rPr sz="1700" b="0" i="0">
                <a:solidFill>
                  <a:srgbClr val="5B6470"/>
                </a:solidFill>
                <a:latin typeface="Arial"/>
              </a:rPr>
              <a:t>So who shows up? The </a:t>
            </a:r>
            <a:r>
              <a:rPr sz="1700" b="1" i="0">
                <a:solidFill>
                  <a:srgbClr val="1A1D23"/>
                </a:solidFill>
                <a:latin typeface="Arial"/>
              </a:rPr>
              <a:t>property flipper</a:t>
            </a:r>
            <a:r>
              <a:rPr sz="1700" b="0" i="0">
                <a:solidFill>
                  <a:srgbClr val="5B6470"/>
                </a:solidFill>
                <a:latin typeface="Arial"/>
              </a:rPr>
              <a:t> — with a lowball offer, ready to pocket the difference between what your seller </a:t>
            </a:r>
            <a:r>
              <a:rPr sz="1700" b="0" i="1">
                <a:solidFill>
                  <a:srgbClr val="5B6470"/>
                </a:solidFill>
                <a:latin typeface="Arial"/>
              </a:rPr>
              <a:t>gets</a:t>
            </a:r>
            <a:r>
              <a:rPr sz="1700" b="0" i="0">
                <a:solidFill>
                  <a:srgbClr val="5B6470"/>
                </a:solidFill>
                <a:latin typeface="Arial"/>
              </a:rPr>
              <a:t> and what the house is truly </a:t>
            </a:r>
            <a:r>
              <a:rPr sz="1700" b="0" i="1">
                <a:solidFill>
                  <a:srgbClr val="5B6470"/>
                </a:solidFill>
                <a:latin typeface="Arial"/>
              </a:rPr>
              <a:t>worth.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5E8A1F"/>
                </a:solidFill>
                <a:latin typeface="Arial"/>
              </a:rPr>
              <a:t>That spread — the flipper's profit — could have gone to your seller.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2103120"/>
            <a:ext cx="3611880" cy="3931920"/>
          </a:xfrm>
          <a:prstGeom prst="roundRect">
            <a:avLst>
              <a:gd name="adj" fmla="val 4050"/>
            </a:avLst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0" y="274320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1080"/>
              </a:spcAft>
            </a:pPr>
            <a:r>
              <a:rPr sz="1300" b="1" i="0">
                <a:solidFill>
                  <a:srgbClr val="9AA4B2"/>
                </a:solidFill>
                <a:latin typeface="Arial"/>
              </a:rPr>
              <a:t>THE FLIPPER'S CUT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3154680"/>
            <a:ext cx="3611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720"/>
              </a:spcAft>
            </a:pPr>
            <a:r>
              <a:rPr sz="5800" b="0" i="0">
                <a:solidFill>
                  <a:srgbClr val="B4F319"/>
                </a:solidFill>
                <a:latin typeface="Arial Black"/>
              </a:rPr>
              <a:t>$100K+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4160520"/>
            <a:ext cx="3063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FFFFF"/>
                </a:solidFill>
                <a:latin typeface="Arial"/>
              </a:rPr>
              <a:t>in equity that walks out the door on a single tired listing — money your seller never had to give away.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8A1F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470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5E8A1F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502920"/>
            <a:ext cx="1600200" cy="1709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20"/>
              </a:spcAft>
            </a:pPr>
            <a:r>
              <a:rPr sz="1300" b="1" i="0">
                <a:solidFill>
                  <a:srgbClr val="ECC371"/>
                </a:solidFill>
                <a:latin typeface="Arial"/>
              </a:rPr>
              <a:t>WHY THIS MATTERS EVEN IF THEY NEVER USE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8869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Arial Black"/>
              </a:rPr>
              <a:t>Knowing the 203(k) is a </a:t>
            </a:r>
            <a:r>
              <a:rPr sz="4000" b="0" i="0">
                <a:solidFill>
                  <a:srgbClr val="B4F319"/>
                </a:solidFill>
                <a:latin typeface="Arial Black"/>
              </a:rPr>
              <a:t>foot in the door.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88036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160"/>
              </a:spcAft>
            </a:pPr>
            <a:r>
              <a:rPr sz="1800" b="0" i="0">
                <a:solidFill>
                  <a:srgbClr val="9AA4B2"/>
                </a:solidFill>
                <a:latin typeface="Arial"/>
              </a:rPr>
              <a:t>You don't need every client to use it. You need to be the </a:t>
            </a:r>
            <a:r>
              <a:rPr sz="1800" b="1" i="0">
                <a:solidFill>
                  <a:srgbClr val="FFFFFF"/>
                </a:solidFill>
                <a:latin typeface="Arial"/>
              </a:rPr>
              <a:t>one agent in the room who has an answer</a:t>
            </a:r>
            <a:r>
              <a:rPr sz="1800" b="0" i="0">
                <a:solidFill>
                  <a:srgbClr val="9AA4B2"/>
                </a:solidFill>
                <a:latin typeface="Arial"/>
              </a:rPr>
              <a:t> when a deal looks dead.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114800"/>
            <a:ext cx="3429000" cy="1783080"/>
          </a:xfrm>
          <a:prstGeom prst="roundRect">
            <a:avLst>
              <a:gd name="adj" fmla="val 7179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64"/>
              </a:spcAft>
            </a:pPr>
            <a:r>
              <a:rPr sz="1900" b="0" i="0">
                <a:solidFill>
                  <a:srgbClr val="B4F319"/>
                </a:solidFill>
                <a:latin typeface="Arial Black"/>
              </a:rPr>
              <a:t>Win the listing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56048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A4B2"/>
                </a:solidFill>
                <a:latin typeface="Arial"/>
              </a:rPr>
              <a:t>The seller with the 'ugly' house hears a plan no other agent offered.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4114800"/>
            <a:ext cx="3429000" cy="1783080"/>
          </a:xfrm>
          <a:prstGeom prst="roundRect">
            <a:avLst>
              <a:gd name="adj" fmla="val 7179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438912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64"/>
              </a:spcAft>
            </a:pPr>
            <a:r>
              <a:rPr sz="1900" b="0" i="0">
                <a:solidFill>
                  <a:srgbClr val="B4F319"/>
                </a:solidFill>
                <a:latin typeface="Arial Black"/>
              </a:rPr>
              <a:t>Revive dead leads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4956048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A4B2"/>
                </a:solidFill>
                <a:latin typeface="Arial"/>
              </a:rPr>
              <a:t>The buyer who 'gave up' months ago suddenly has a path.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46136" y="4114800"/>
            <a:ext cx="3429000" cy="1783080"/>
          </a:xfrm>
          <a:prstGeom prst="roundRect">
            <a:avLst>
              <a:gd name="adj" fmla="val 7179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5" y="438912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64"/>
              </a:spcAft>
            </a:pPr>
            <a:r>
              <a:rPr sz="1900" b="0" i="0">
                <a:solidFill>
                  <a:srgbClr val="B4F319"/>
                </a:solidFill>
                <a:latin typeface="Arial Black"/>
              </a:rPr>
              <a:t>Own the referral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5" y="4956048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A4B2"/>
                </a:solidFill>
                <a:latin typeface="Arial"/>
              </a:rPr>
              <a:t>You become the agent people send their hardest deals 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F319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B4F319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45720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B4F319"/>
                </a:solidFill>
                <a:latin typeface="Arial Black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60520" y="1874519"/>
            <a:ext cx="27432" cy="3108960"/>
          </a:xfrm>
          <a:prstGeom prst="rect">
            <a:avLst/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33172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40"/>
              </a:spcAft>
            </a:pPr>
            <a:r>
              <a:rPr sz="1500" b="1" i="0">
                <a:solidFill>
                  <a:srgbClr val="ECC371"/>
                </a:solidFill>
                <a:latin typeface="Arial"/>
              </a:rPr>
              <a:t>PART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788920"/>
            <a:ext cx="70408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Arial Black"/>
              </a:rPr>
              <a:t>What the 203(k) </a:t>
            </a:r>
            <a:r>
              <a:rPr sz="4000" b="0" i="0">
                <a:solidFill>
                  <a:srgbClr val="B4F319"/>
                </a:solidFill>
                <a:latin typeface="Arial Black"/>
              </a:rPr>
              <a:t>actually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F319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B4F319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75488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20"/>
              </a:spcAft>
            </a:pPr>
            <a:r>
              <a:rPr sz="1300" b="1" i="0">
                <a:solidFill>
                  <a:srgbClr val="CBA24A"/>
                </a:solidFill>
                <a:latin typeface="Arial"/>
              </a:rPr>
              <a:t>THE LOAN THAT CHANGES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1155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>
                <a:solidFill>
                  <a:srgbClr val="1A1D23"/>
                </a:solidFill>
                <a:latin typeface="Arial Black"/>
              </a:rPr>
              <a:t>“This house is </a:t>
            </a:r>
            <a:r>
              <a:rPr sz="3300" b="0" i="0">
                <a:solidFill>
                  <a:srgbClr val="5E8A1F"/>
                </a:solidFill>
                <a:latin typeface="Arial Black"/>
              </a:rPr>
              <a:t>sold as-is</a:t>
            </a:r>
            <a:r>
              <a:rPr sz="3300" b="0" i="0">
                <a:solidFill>
                  <a:srgbClr val="1A1D23"/>
                </a:solidFill>
                <a:latin typeface="Arial Black"/>
              </a:rPr>
              <a:t>” isn't a dead 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916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B6470"/>
                </a:solidFill>
                <a:latin typeface="Georgia"/>
              </a:rPr>
              <a:t>It's an invitation.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468880"/>
            <a:ext cx="6858000" cy="676656"/>
          </a:xfrm>
          <a:prstGeom prst="roundRect">
            <a:avLst>
              <a:gd name="adj" fmla="val 13513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560320"/>
            <a:ext cx="402336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1">
                <a:solidFill>
                  <a:srgbClr val="CBA24A"/>
                </a:solidFill>
                <a:latin typeface="Arial Unicode MS"/>
              </a:rPr>
              <a:t>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59436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</a:pPr>
            <a:r>
              <a:rPr sz="1700" b="0" i="0">
                <a:solidFill>
                  <a:srgbClr val="1A1D23"/>
                </a:solidFill>
                <a:latin typeface="Arial"/>
              </a:rPr>
              <a:t>Would this home qualify for FHA today?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310128"/>
            <a:ext cx="6858000" cy="676656"/>
          </a:xfrm>
          <a:prstGeom prst="roundRect">
            <a:avLst>
              <a:gd name="adj" fmla="val 13513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3401568"/>
            <a:ext cx="402336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1">
                <a:solidFill>
                  <a:srgbClr val="CBA24A"/>
                </a:solidFill>
                <a:latin typeface="Arial Unicode MS"/>
              </a:rPr>
              <a:t>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310128"/>
            <a:ext cx="59436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</a:pPr>
            <a:r>
              <a:rPr sz="1700" b="0" i="0">
                <a:solidFill>
                  <a:srgbClr val="1A1D23"/>
                </a:solidFill>
                <a:latin typeface="Arial"/>
              </a:rPr>
              <a:t>Would most buyers even walk through it?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151376"/>
            <a:ext cx="6858000" cy="676656"/>
          </a:xfrm>
          <a:prstGeom prst="roundRect">
            <a:avLst>
              <a:gd name="adj" fmla="val 13513"/>
            </a:avLst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242816"/>
            <a:ext cx="402336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1">
                <a:solidFill>
                  <a:srgbClr val="B4F319"/>
                </a:solidFill>
                <a:latin typeface="Arial Unicode M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151376"/>
            <a:ext cx="59436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But what if it could become their dream home…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992624"/>
            <a:ext cx="6858000" cy="676656"/>
          </a:xfrm>
          <a:prstGeom prst="roundRect">
            <a:avLst>
              <a:gd name="adj" fmla="val 13513"/>
            </a:avLst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084064"/>
            <a:ext cx="402336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1">
                <a:solidFill>
                  <a:srgbClr val="B4F319"/>
                </a:solidFill>
                <a:latin typeface="Arial Unicode M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59436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…with no extra money out of pocket?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2468880"/>
            <a:ext cx="3657600" cy="3273552"/>
          </a:xfrm>
          <a:prstGeom prst="roundRect">
            <a:avLst>
              <a:gd name="adj" fmla="val 4469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880360"/>
            <a:ext cx="310896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Arial"/>
              </a:rPr>
              <a:t>The 203(k) lets a buyer finance the </a:t>
            </a:r>
            <a:r>
              <a:rPr sz="1700" b="1" i="0">
                <a:solidFill>
                  <a:srgbClr val="B4F319"/>
                </a:solidFill>
                <a:latin typeface="Arial"/>
              </a:rPr>
              <a:t>purchase </a:t>
            </a:r>
            <a:r>
              <a:rPr sz="1700" b="0" i="0">
                <a:solidFill>
                  <a:srgbClr val="FFFFFF"/>
                </a:solidFill>
                <a:latin typeface="Arial"/>
              </a:rPr>
              <a:t>and the </a:t>
            </a:r>
            <a:r>
              <a:rPr sz="1700" b="1" i="0">
                <a:solidFill>
                  <a:srgbClr val="B4F319"/>
                </a:solidFill>
                <a:latin typeface="Arial"/>
              </a:rPr>
              <a:t>renovation</a:t>
            </a:r>
            <a:r>
              <a:rPr sz="1700" b="0" i="0">
                <a:solidFill>
                  <a:srgbClr val="FFFFFF"/>
                </a:solidFill>
                <a:latin typeface="Arial"/>
              </a:rPr>
              <a:t> in a single loan — turning the house nobody wanted into the one they'll never leave.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8A1F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470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5E8A1F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75488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20"/>
              </a:spcAft>
            </a:pPr>
            <a:r>
              <a:rPr sz="1300" b="1" i="0">
                <a:solidFill>
                  <a:srgbClr val="CBA24A"/>
                </a:solidFill>
                <a:latin typeface="Arial"/>
              </a:rPr>
              <a:t>IT'S NOT JUST RENOVATION — IT'S TOTAL FINANCIAL RELIEF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1155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>
                <a:solidFill>
                  <a:srgbClr val="1A1D23"/>
                </a:solidFill>
                <a:latin typeface="Arial Black"/>
              </a:rPr>
              <a:t>What the 203(k) </a:t>
            </a:r>
            <a:r>
              <a:rPr sz="3300" b="0" i="0">
                <a:solidFill>
                  <a:srgbClr val="5E8A1F"/>
                </a:solidFill>
                <a:latin typeface="Arial Black"/>
              </a:rPr>
              <a:t>actually covers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148840"/>
            <a:ext cx="3429000" cy="1737360"/>
          </a:xfrm>
          <a:prstGeom prst="roundRect">
            <a:avLst>
              <a:gd name="adj" fmla="val 7368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322576"/>
            <a:ext cx="402336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1">
                <a:solidFill>
                  <a:srgbClr val="5E8A1F"/>
                </a:solidFill>
                <a:latin typeface="Arial Unicode M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237744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750" b="0" i="0">
                <a:solidFill>
                  <a:srgbClr val="1A1D23"/>
                </a:solidFill>
                <a:latin typeface="Arial Black"/>
              </a:rPr>
              <a:t>Purchase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97180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B6470"/>
                </a:solidFill>
                <a:latin typeface="Arial"/>
              </a:rPr>
              <a:t>The full cost of the home, any 1–4 unit property, in any condition.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2148840"/>
            <a:ext cx="3429000" cy="1737360"/>
          </a:xfrm>
          <a:prstGeom prst="roundRect">
            <a:avLst>
              <a:gd name="adj" fmla="val 7368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322576"/>
            <a:ext cx="402336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1">
                <a:solidFill>
                  <a:srgbClr val="5E8A1F"/>
                </a:solidFill>
                <a:latin typeface="Arial Unicode M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0056" y="237744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750" b="0" i="0">
                <a:solidFill>
                  <a:srgbClr val="1A1D23"/>
                </a:solidFill>
                <a:latin typeface="Arial Black"/>
              </a:rPr>
              <a:t>Renovation costs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297180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B6470"/>
                </a:solidFill>
                <a:latin typeface="Arial"/>
              </a:rPr>
              <a:t>Labor, materials, and a built-in contingency reserve for surprises.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6136" y="2148840"/>
            <a:ext cx="3429000" cy="1737360"/>
          </a:xfrm>
          <a:prstGeom prst="roundRect">
            <a:avLst>
              <a:gd name="adj" fmla="val 7368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2322576"/>
            <a:ext cx="402336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1">
                <a:solidFill>
                  <a:srgbClr val="5E8A1F"/>
                </a:solidFill>
                <a:latin typeface="Arial Unicode M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5944" y="237744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750" b="0" i="0">
                <a:solidFill>
                  <a:srgbClr val="1A1D23"/>
                </a:solidFill>
                <a:latin typeface="Arial Black"/>
              </a:rPr>
              <a:t>Closing costs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297180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B6470"/>
                </a:solidFill>
                <a:latin typeface="Arial"/>
              </a:rPr>
              <a:t>Wrapped in — with up to 6% seller's concession on the 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114800"/>
            <a:ext cx="3429000" cy="1737360"/>
          </a:xfrm>
          <a:prstGeom prst="roundRect">
            <a:avLst>
              <a:gd name="adj" fmla="val 7368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4288536"/>
            <a:ext cx="402336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1">
                <a:solidFill>
                  <a:srgbClr val="5E8A1F"/>
                </a:solidFill>
                <a:latin typeface="Arial Unicode M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434340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750" b="0" i="0">
                <a:solidFill>
                  <a:srgbClr val="1A1D23"/>
                </a:solidFill>
                <a:latin typeface="Arial Black"/>
              </a:rPr>
              <a:t>Soft costs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93776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B6470"/>
                </a:solidFill>
                <a:latin typeface="Arial"/>
              </a:rPr>
              <a:t>Architectural, permit, zoning, and inspection fees included.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0248" y="4114800"/>
            <a:ext cx="3429000" cy="1737360"/>
          </a:xfrm>
          <a:prstGeom prst="roundRect">
            <a:avLst>
              <a:gd name="adj" fmla="val 7368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4288536"/>
            <a:ext cx="402336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1">
                <a:solidFill>
                  <a:srgbClr val="5E8A1F"/>
                </a:solidFill>
                <a:latin typeface="Arial Unicode M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0056" y="434340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750" b="0" i="0">
                <a:solidFill>
                  <a:srgbClr val="1A1D23"/>
                </a:solidFill>
                <a:latin typeface="Arial Black"/>
              </a:rPr>
              <a:t>Mortgage payments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2856" y="493776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B6470"/>
                </a:solidFill>
                <a:latin typeface="Arial"/>
              </a:rPr>
              <a:t>NEW: up to 12 months of payments financed during the renovation.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46136" y="4114800"/>
            <a:ext cx="3429000" cy="1737360"/>
          </a:xfrm>
          <a:prstGeom prst="roundRect">
            <a:avLst>
              <a:gd name="adj" fmla="val 7368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02168" y="4288536"/>
            <a:ext cx="402336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1">
                <a:solidFill>
                  <a:srgbClr val="5E8A1F"/>
                </a:solidFill>
                <a:latin typeface="Arial Unicode M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95944" y="434340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750" b="0" i="0">
                <a:solidFill>
                  <a:srgbClr val="1A1D23"/>
                </a:solidFill>
                <a:latin typeface="Arial Black"/>
              </a:rPr>
              <a:t>Future value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493776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B6470"/>
                </a:solidFill>
                <a:latin typeface="Arial"/>
              </a:rPr>
              <a:t>Borrow against what the home will be worth — not the fixer it is today.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8A1F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470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5E8A1F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20"/>
              </a:spcAft>
            </a:pPr>
            <a:r>
              <a:rPr sz="1300" b="1" i="0">
                <a:solidFill>
                  <a:srgbClr val="ECC371"/>
                </a:solidFill>
                <a:latin typeface="Arial"/>
              </a:rPr>
              <a:t>BUY ON THE FUTURE — NOT THE FIXER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1155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700" b="0" i="0">
                <a:solidFill>
                  <a:srgbClr val="FFFFFF"/>
                </a:solidFill>
                <a:latin typeface="Arial Black"/>
              </a:rPr>
              <a:t>Up to </a:t>
            </a:r>
            <a:r>
              <a:rPr sz="3700" b="0" i="0">
                <a:solidFill>
                  <a:srgbClr val="B4F319"/>
                </a:solidFill>
                <a:latin typeface="Arial Black"/>
              </a:rPr>
              <a:t>110% of after-renovation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31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9AA4B2"/>
                </a:solidFill>
                <a:latin typeface="Arial"/>
              </a:rPr>
              <a:t>Your buyer gets more house — and more equity — than they thought possible.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063240"/>
            <a:ext cx="3429000" cy="2286000"/>
          </a:xfrm>
          <a:prstGeom prst="roundRect">
            <a:avLst>
              <a:gd name="adj" fmla="val 56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64992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64"/>
              </a:spcAft>
            </a:pPr>
            <a:r>
              <a:rPr sz="2000" b="0" i="0">
                <a:solidFill>
                  <a:srgbClr val="B4F319"/>
                </a:solidFill>
                <a:latin typeface="Arial Black"/>
              </a:rPr>
              <a:t>More buying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50208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A4B2"/>
                </a:solidFill>
                <a:latin typeface="Arial"/>
              </a:rPr>
              <a:t>Qualify against the finished value, opening up better homes and neighborhoods.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3063240"/>
            <a:ext cx="3429000" cy="2286000"/>
          </a:xfrm>
          <a:prstGeom prst="roundRect">
            <a:avLst>
              <a:gd name="adj" fmla="val 56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3364992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64"/>
              </a:spcAft>
            </a:pPr>
            <a:r>
              <a:rPr sz="2000" b="0" i="0">
                <a:solidFill>
                  <a:srgbClr val="B4F319"/>
                </a:solidFill>
                <a:latin typeface="Arial Black"/>
              </a:rPr>
              <a:t>Bigger reno 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3950208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A4B2"/>
                </a:solidFill>
                <a:latin typeface="Arial"/>
              </a:rPr>
              <a:t>Room to do it right — and to wrap closing and holding costs into the loan.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6136" y="3063240"/>
            <a:ext cx="3429000" cy="2286000"/>
          </a:xfrm>
          <a:prstGeom prst="roundRect">
            <a:avLst>
              <a:gd name="adj" fmla="val 56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5" y="3364992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64"/>
              </a:spcAft>
            </a:pPr>
            <a:r>
              <a:rPr sz="2000" b="0" i="0">
                <a:solidFill>
                  <a:srgbClr val="B4F319"/>
                </a:solidFill>
                <a:latin typeface="Arial Black"/>
              </a:rPr>
              <a:t>Instant equity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3950208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A4B2"/>
                </a:solidFill>
                <a:latin typeface="Arial"/>
              </a:rPr>
              <a:t>Buy at $500K on a home worth $650K finished. Day-one equity, built 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6235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CC371"/>
                </a:solidFill>
                <a:latin typeface="Arial"/>
              </a:rPr>
              <a:t>Pro tip:  </a:t>
            </a:r>
            <a:r>
              <a:rPr sz="1450" b="0" i="1">
                <a:solidFill>
                  <a:srgbClr val="9AA4B2"/>
                </a:solidFill>
                <a:latin typeface="Arial"/>
              </a:rPr>
              <a:t>Appraisal came in short on a standard purchase? Flip to a 203(k) Limited, add a few thousand in improvements, and rescue the deal.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F319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B4F319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75488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20"/>
              </a:spcAft>
            </a:pPr>
            <a:r>
              <a:rPr sz="1300" b="1" i="0">
                <a:solidFill>
                  <a:srgbClr val="D64545"/>
                </a:solidFill>
                <a:latin typeface="Arial"/>
              </a:rPr>
              <a:t>CLEARING THE FOG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1155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>
                <a:solidFill>
                  <a:srgbClr val="1A1D23"/>
                </a:solidFill>
                <a:latin typeface="Arial Black"/>
              </a:rPr>
              <a:t>203(k) myths </a:t>
            </a:r>
            <a:r>
              <a:rPr sz="3300" b="0" i="0">
                <a:solidFill>
                  <a:srgbClr val="D64545"/>
                </a:solidFill>
                <a:latin typeface="Arial Black"/>
              </a:rPr>
              <a:t>that scare agents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91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5B6470"/>
                </a:solidFill>
                <a:latin typeface="Arial"/>
              </a:rPr>
              <a:t>Every one of these is false — and each one is a deal your competition is too afraid to touch.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2231136"/>
            <a:ext cx="384048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D64545"/>
                </a:solidFill>
                <a:latin typeface="Arial Unicode MS"/>
              </a:rPr>
              <a:t>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67712"/>
            <a:ext cx="4937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A1D23"/>
                </a:solidFill>
                <a:latin typeface="Arial"/>
              </a:rPr>
              <a:t>You need a “HUD-approved” or “203k-certified” contractor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9632" y="2231136"/>
            <a:ext cx="384048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D64545"/>
                </a:solidFill>
                <a:latin typeface="Arial Unicode MS"/>
              </a:rPr>
              <a:t>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267712"/>
            <a:ext cx="4937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A1D23"/>
                </a:solidFill>
                <a:latin typeface="Arial"/>
              </a:rPr>
              <a:t>A consultant is required and only slows everything 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127248"/>
            <a:ext cx="384048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D64545"/>
                </a:solidFill>
                <a:latin typeface="Arial Unicode MS"/>
              </a:rPr>
              <a:t>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63824"/>
            <a:ext cx="4937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A1D23"/>
                </a:solidFill>
                <a:latin typeface="Arial"/>
              </a:rPr>
              <a:t>You're capped at $35K in renovations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2" y="3127248"/>
            <a:ext cx="384048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D64545"/>
                </a:solidFill>
                <a:latin typeface="Arial Unicode MS"/>
              </a:rPr>
              <a:t>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3163824"/>
            <a:ext cx="4937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A1D23"/>
                </a:solidFill>
                <a:latin typeface="Arial"/>
              </a:rPr>
              <a:t>The work must be finished in six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4023360"/>
            <a:ext cx="384048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D64545"/>
                </a:solidFill>
                <a:latin typeface="Arial Unicode MS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59935"/>
            <a:ext cx="4937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A1D23"/>
                </a:solidFill>
                <a:latin typeface="Arial"/>
              </a:rPr>
              <a:t>It's mountains of paperwork and takes forever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4023360"/>
            <a:ext cx="384048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D64545"/>
                </a:solidFill>
                <a:latin typeface="Arial Unicode MS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059935"/>
            <a:ext cx="4937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A1D23"/>
                </a:solidFill>
                <a:latin typeface="Arial"/>
              </a:rPr>
              <a:t>Contractors get paid slowly, so none will take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4919472"/>
            <a:ext cx="384048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D64545"/>
                </a:solidFill>
                <a:latin typeface="Arial Unicode MS"/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956048"/>
            <a:ext cx="4937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A1D23"/>
                </a:solidFill>
                <a:latin typeface="Arial"/>
              </a:rPr>
              <a:t>FHA won't let you buy a house in rough condition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4919472"/>
            <a:ext cx="384048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D64545"/>
                </a:solidFill>
                <a:latin typeface="Arial Unicode MS"/>
              </a:rP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956048"/>
            <a:ext cx="4937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A1D23"/>
                </a:solidFill>
                <a:latin typeface="Arial"/>
              </a:rPr>
              <a:t>It's only for first-time buyers who move in immediately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943600"/>
            <a:ext cx="11000232" cy="566928"/>
          </a:xfrm>
          <a:prstGeom prst="roundRect">
            <a:avLst>
              <a:gd name="adj" fmla="val 16129"/>
            </a:avLst>
          </a:prstGeom>
          <a:solidFill>
            <a:srgbClr val="F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550" b="1" i="0">
                <a:solidFill>
                  <a:srgbClr val="D64545"/>
                </a:solidFill>
                <a:latin typeface="Arial"/>
              </a:rPr>
              <a:t>The truth:  </a:t>
            </a:r>
            <a:r>
              <a:rPr sz="1550" b="0" i="0">
                <a:solidFill>
                  <a:srgbClr val="1A1D23"/>
                </a:solidFill>
                <a:latin typeface="Arial"/>
              </a:rPr>
              <a:t>a licensed, insured contractor and the right lender make every one of these a non-issue.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8A1F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470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5E8A1F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45720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B4F319"/>
                </a:solidFill>
                <a:latin typeface="Arial Black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160520" y="1874519"/>
            <a:ext cx="27432" cy="3108960"/>
          </a:xfrm>
          <a:prstGeom prst="rect">
            <a:avLst/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33172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40"/>
              </a:spcAft>
            </a:pPr>
            <a:r>
              <a:rPr sz="1500" b="1" i="0">
                <a:solidFill>
                  <a:srgbClr val="ECC371"/>
                </a:solidFill>
                <a:latin typeface="Arial"/>
              </a:rPr>
              <a:t>PART 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788920"/>
            <a:ext cx="70408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Arial Black"/>
              </a:rPr>
              <a:t>The three </a:t>
            </a:r>
            <a:r>
              <a:rPr sz="4000" b="0" i="0">
                <a:solidFill>
                  <a:srgbClr val="B4F319"/>
                </a:solidFill>
                <a:latin typeface="Arial Black"/>
              </a:rPr>
              <a:t>edges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F319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B4F319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75488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20"/>
              </a:spcAft>
            </a:pPr>
            <a:r>
              <a:rPr sz="1300" b="1" i="0">
                <a:solidFill>
                  <a:srgbClr val="CBA24A"/>
                </a:solidFill>
                <a:latin typeface="Arial"/>
              </a:rPr>
              <a:t>EDGE ONE · FOR YOUR SELLERS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1521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A1D23"/>
                </a:solidFill>
                <a:latin typeface="Arial Black"/>
              </a:rPr>
              <a:t>Cut out the flipper. </a:t>
            </a:r>
            <a:r>
              <a:rPr sz="3000" b="0" i="0">
                <a:solidFill>
                  <a:srgbClr val="5E8A1F"/>
                </a:solidFill>
                <a:latin typeface="Arial Black"/>
              </a:rPr>
              <a:t>Hand the profit back to your seller.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286000"/>
            <a:ext cx="6583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1584"/>
              </a:spcAft>
            </a:pPr>
            <a:r>
              <a:rPr sz="1750" b="0" i="0">
                <a:solidFill>
                  <a:srgbClr val="5B6470"/>
                </a:solidFill>
                <a:latin typeface="Arial"/>
              </a:rPr>
              <a:t>The flipper's entire business model depends on one thing: your seller </a:t>
            </a:r>
            <a:r>
              <a:rPr sz="1750" b="1" i="0">
                <a:solidFill>
                  <a:srgbClr val="1A1D23"/>
                </a:solidFill>
                <a:latin typeface="Arial"/>
              </a:rPr>
              <a:t>not knowing</a:t>
            </a:r>
            <a:r>
              <a:rPr sz="1750" b="0" i="0">
                <a:solidFill>
                  <a:srgbClr val="5B6470"/>
                </a:solidFill>
                <a:latin typeface="Arial"/>
              </a:rPr>
              <a:t> what the house is really worth.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1584"/>
              </a:spcAft>
            </a:pPr>
            <a:r>
              <a:rPr sz="1750" b="0" i="0">
                <a:solidFill>
                  <a:srgbClr val="5B6470"/>
                </a:solidFill>
                <a:latin typeface="Arial"/>
              </a:rPr>
              <a:t>They buy the tired house cheap, renovate it, and resell it for six figures more. That spread is the whole game.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5B6470"/>
                </a:solidFill>
                <a:latin typeface="Arial"/>
              </a:rPr>
              <a:t>A 203(k)-ready buyer does the exact same thing the flipper would — </a:t>
            </a:r>
            <a:r>
              <a:rPr sz="1750" b="1" i="0">
                <a:solidFill>
                  <a:srgbClr val="5E8A1F"/>
                </a:solidFill>
                <a:latin typeface="Arial"/>
              </a:rPr>
              <a:t>except the seller captures the upside instead of a stranger.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2194560"/>
            <a:ext cx="3840480" cy="3794760"/>
          </a:xfrm>
          <a:prstGeom prst="roundRect">
            <a:avLst>
              <a:gd name="adj" fmla="val 3855"/>
            </a:avLst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265176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1296"/>
              </a:spcAft>
            </a:pPr>
            <a:r>
              <a:rPr sz="1300" b="1" i="0">
                <a:solidFill>
                  <a:srgbClr val="9AA4B2"/>
                </a:solidFill>
                <a:latin typeface="Arial"/>
              </a:rPr>
              <a:t>THE FLIPPER 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5592" y="3072384"/>
            <a:ext cx="32918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D64545"/>
                </a:solidFill>
                <a:latin typeface="Arial Unicode MS"/>
              </a:rPr>
              <a:t>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3108960"/>
            <a:ext cx="2834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FFFFFF"/>
                </a:solidFill>
                <a:latin typeface="Arial"/>
              </a:rPr>
              <a:t>A discounted, uninformed seller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5592" y="3675888"/>
            <a:ext cx="32918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D64545"/>
                </a:solidFill>
                <a:latin typeface="Arial Unicode MS"/>
              </a:rPr>
              <a:t>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712463"/>
            <a:ext cx="2834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FFFFFF"/>
                </a:solidFill>
                <a:latin typeface="Arial"/>
              </a:rPr>
              <a:t>A house priced on condition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4279392"/>
            <a:ext cx="32918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D64545"/>
                </a:solidFill>
                <a:latin typeface="Arial Unicode MS"/>
              </a:rPr>
              <a:t>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4315968"/>
            <a:ext cx="2834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FFFFFF"/>
                </a:solidFill>
                <a:latin typeface="Arial"/>
              </a:rPr>
              <a:t>Nobody offering another option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4983480"/>
            <a:ext cx="3291840" cy="18288"/>
          </a:xfrm>
          <a:prstGeom prst="rect">
            <a:avLst/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516636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A4B2"/>
                </a:solidFill>
                <a:latin typeface="Arial"/>
              </a:rPr>
              <a:t>Take away any one of these and the flipper has </a:t>
            </a:r>
            <a:r>
              <a:rPr sz="1500" b="1" i="0">
                <a:solidFill>
                  <a:srgbClr val="B4F319"/>
                </a:solidFill>
                <a:latin typeface="Arial"/>
              </a:rPr>
              <a:t>nothing.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8A1F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470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5E8A1F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60"/>
              </a:spcAft>
            </a:pPr>
            <a:r>
              <a:rPr sz="1300" b="1" i="0">
                <a:solidFill>
                  <a:srgbClr val="ECC371"/>
                </a:solidFill>
                <a:latin typeface="Arial"/>
              </a:rPr>
              <a:t>THE SAME LONG ISLAND HOUSE · TWO VERY DIFFERENT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FFFFFF"/>
                </a:solidFill>
                <a:latin typeface="Arial Black"/>
              </a:rPr>
              <a:t>Where does the </a:t>
            </a:r>
            <a:r>
              <a:rPr sz="3200" b="0" i="0">
                <a:solidFill>
                  <a:srgbClr val="B4F319"/>
                </a:solidFill>
                <a:latin typeface="Arial Black"/>
              </a:rPr>
              <a:t>$100,000</a:t>
            </a:r>
            <a:r>
              <a:rPr sz="3200" b="0" i="0">
                <a:solidFill>
                  <a:srgbClr val="FFFFFF"/>
                </a:solidFill>
                <a:latin typeface="Arial Black"/>
              </a:rPr>
              <a:t> go?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349240" cy="3977639"/>
          </a:xfrm>
          <a:prstGeom prst="roundRect">
            <a:avLst>
              <a:gd name="adj" fmla="val 3678"/>
            </a:avLst>
          </a:prstGeom>
          <a:solidFill>
            <a:srgbClr val="171C24"/>
          </a:solidFill>
          <a:ln w="12700">
            <a:solidFill>
              <a:srgbClr val="3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64545"/>
                </a:solidFill>
                <a:latin typeface="Arial Black"/>
              </a:rPr>
              <a:t>THE FLIPPER'S 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87168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9AA4B2"/>
                </a:solidFill>
                <a:latin typeface="Arial"/>
              </a:rPr>
              <a:t>Buys your listing as-is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2487168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$400,000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90088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9AA4B2"/>
                </a:solidFill>
                <a:latin typeface="Arial"/>
              </a:rPr>
              <a:t>Puts in the renovation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990088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500" b="1" i="0">
                <a:solidFill>
                  <a:srgbClr val="9AA4B2"/>
                </a:solidFill>
                <a:latin typeface="Arial"/>
              </a:rPr>
              <a:t>+ $90,000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93008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9AA4B2"/>
                </a:solidFill>
                <a:latin typeface="Arial"/>
              </a:rPr>
              <a:t>Carrying, closing &amp; resale costs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3493008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500" b="1" i="0">
                <a:solidFill>
                  <a:srgbClr val="9AA4B2"/>
                </a:solidFill>
                <a:latin typeface="Arial"/>
              </a:rPr>
              <a:t>+ $45,000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995928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9AA4B2"/>
                </a:solidFill>
                <a:latin typeface="Arial"/>
              </a:rPr>
              <a:t>Resells at market (ARV)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3995928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$650,000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4553712"/>
            <a:ext cx="4617720" cy="18288"/>
          </a:xfrm>
          <a:prstGeom prst="rect">
            <a:avLst/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68172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Flipper pockets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4626864"/>
            <a:ext cx="2606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2600" b="1" i="0">
                <a:solidFill>
                  <a:srgbClr val="D64545"/>
                </a:solidFill>
                <a:latin typeface="Arial Black"/>
              </a:rPr>
              <a:t>$115,000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212080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9AA4B2"/>
                </a:solidFill>
                <a:latin typeface="Georgia"/>
              </a:rPr>
              <a:t>Your seller handed a stranger $115K.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691640"/>
            <a:ext cx="5349240" cy="3977639"/>
          </a:xfrm>
          <a:prstGeom prst="roundRect">
            <a:avLst>
              <a:gd name="adj" fmla="val 3678"/>
            </a:avLst>
          </a:prstGeom>
          <a:solidFill>
            <a:srgbClr val="171C24"/>
          </a:solidFill>
          <a:ln w="19050">
            <a:solidFill>
              <a:srgbClr val="5E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9659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4F319"/>
                </a:solidFill>
                <a:latin typeface="Arial Black"/>
              </a:rPr>
              <a:t>THE 203k </a:t>
            </a:r>
            <a:r>
              <a:rPr sz="1600" b="1" i="0">
                <a:solidFill>
                  <a:srgbClr val="B4F319"/>
                </a:solidFill>
                <a:latin typeface="Arial Black"/>
              </a:rPr>
              <a:t>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487168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9AA4B2"/>
                </a:solidFill>
                <a:latin typeface="Arial"/>
              </a:rPr>
              <a:t>Retail buyer offers on future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2487168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$500,000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990088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9AA4B2"/>
                </a:solidFill>
                <a:latin typeface="Arial"/>
              </a:rPr>
              <a:t>Buyer finances the reno themselves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2990088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500" b="1" i="0">
                <a:solidFill>
                  <a:srgbClr val="9AA4B2"/>
                </a:solidFill>
                <a:latin typeface="Arial"/>
              </a:rPr>
              <a:t>+ $90,000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493008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9AA4B2"/>
                </a:solidFill>
                <a:latin typeface="Arial"/>
              </a:rPr>
              <a:t>Buyer's all-in on a $650K home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3493008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$590,000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995928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9AA4B2"/>
                </a:solidFill>
                <a:latin typeface="Arial"/>
              </a:rPr>
              <a:t>So the buyer starts with equity 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3995928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500" b="1" i="0">
                <a:solidFill>
                  <a:srgbClr val="B4F319"/>
                </a:solidFill>
                <a:latin typeface="Arial"/>
              </a:rPr>
              <a:t>$60,000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4553712"/>
            <a:ext cx="4617720" cy="18288"/>
          </a:xfrm>
          <a:prstGeom prst="rect">
            <a:avLst/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68172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Seller nets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626864"/>
            <a:ext cx="2606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2600" b="1" i="0">
                <a:solidFill>
                  <a:srgbClr val="B4F319"/>
                </a:solidFill>
                <a:latin typeface="Arial Black"/>
              </a:rPr>
              <a:t>+$100,000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212080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B4F319"/>
                </a:solidFill>
                <a:latin typeface="Georgia"/>
              </a:rPr>
              <a:t>Everybody wins — except the flipper.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870448"/>
            <a:ext cx="11000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A4B2"/>
                </a:solidFill>
                <a:latin typeface="Arial"/>
              </a:rPr>
              <a:t>Seller +$100K   ·   Buyer +$60K equity   ·   You keep both clients — and often </a:t>
            </a:r>
            <a:r>
              <a:rPr sz="1450" b="1" i="0">
                <a:solidFill>
                  <a:srgbClr val="ECC371"/>
                </a:solidFill>
                <a:latin typeface="Arial"/>
              </a:rPr>
              <a:t>both sides of the deal.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F319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B4F319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75488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20"/>
              </a:spcAft>
            </a:pPr>
            <a:r>
              <a:rPr sz="1300" b="1" i="0">
                <a:solidFill>
                  <a:srgbClr val="CBA24A"/>
                </a:solidFill>
                <a:latin typeface="Arial"/>
              </a:rPr>
              <a:t>EDGE TWO · YOUR CONTRACTOR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1155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>
                <a:solidFill>
                  <a:srgbClr val="1A1D23"/>
                </a:solidFill>
                <a:latin typeface="Arial Black"/>
              </a:rPr>
              <a:t>Sell the </a:t>
            </a:r>
            <a:r>
              <a:rPr sz="3300" b="0" i="0">
                <a:solidFill>
                  <a:srgbClr val="5E8A1F"/>
                </a:solidFill>
                <a:latin typeface="Arial Black"/>
              </a:rPr>
              <a:t>vision</a:t>
            </a:r>
            <a:r>
              <a:rPr sz="3300" b="0" i="0">
                <a:solidFill>
                  <a:srgbClr val="1A1D23"/>
                </a:solidFill>
                <a:latin typeface="Arial Black"/>
              </a:rPr>
              <a:t> — not the condition.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48840"/>
            <a:ext cx="63093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1584"/>
              </a:spcAft>
            </a:pPr>
            <a:r>
              <a:rPr sz="1650" b="0" i="0">
                <a:solidFill>
                  <a:srgbClr val="5B6470"/>
                </a:solidFill>
                <a:latin typeface="Arial"/>
              </a:rPr>
              <a:t>Walk into a listing appointment or open house with a contractor already on your team, and you can hand people something no other agent can: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8"/>
              </a:spcAft>
            </a:pPr>
            <a:r>
              <a:rPr sz="1600" b="1" i="0">
                <a:solidFill>
                  <a:srgbClr val="5E8A1F"/>
                </a:solidFill>
                <a:latin typeface="Arial"/>
              </a:rPr>
              <a:t>✓  </a:t>
            </a:r>
            <a:r>
              <a:rPr sz="1600" b="0" i="0">
                <a:solidFill>
                  <a:srgbClr val="1A1D23"/>
                </a:solidFill>
                <a:latin typeface="Arial"/>
              </a:rPr>
              <a:t>An AI-rendered “after” of the finished home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8"/>
              </a:spcAft>
            </a:pPr>
            <a:r>
              <a:rPr sz="1600" b="1" i="0">
                <a:solidFill>
                  <a:srgbClr val="5E8A1F"/>
                </a:solidFill>
                <a:latin typeface="Arial"/>
              </a:rPr>
              <a:t>✓  </a:t>
            </a:r>
            <a:r>
              <a:rPr sz="1600" b="0" i="0">
                <a:solidFill>
                  <a:srgbClr val="1A1D23"/>
                </a:solidFill>
                <a:latin typeface="Arial"/>
              </a:rPr>
              <a:t>A real contractor's bid, already drawn up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40"/>
              </a:spcAft>
            </a:pPr>
            <a:r>
              <a:rPr sz="1600" b="1" i="0">
                <a:solidFill>
                  <a:srgbClr val="5E8A1F"/>
                </a:solidFill>
                <a:latin typeface="Arial"/>
              </a:rPr>
              <a:t>✓  </a:t>
            </a:r>
            <a:r>
              <a:rPr sz="1600" b="0" i="0">
                <a:solidFill>
                  <a:srgbClr val="1A1D23"/>
                </a:solidFill>
                <a:latin typeface="Arial"/>
              </a:rPr>
              <a:t>Material samples buyers and sellers can touch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B6470"/>
                </a:solidFill>
                <a:latin typeface="Arial"/>
              </a:rPr>
              <a:t>Sellers list for more. And an unrepresented buyer who sees the dream? That's your </a:t>
            </a:r>
            <a:r>
              <a:rPr sz="1650" b="1" i="0">
                <a:solidFill>
                  <a:srgbClr val="5E8A1F"/>
                </a:solidFill>
                <a:latin typeface="Arial"/>
              </a:rPr>
              <a:t>dual-agency door — where most buyers start their search.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2148840"/>
            <a:ext cx="4434840" cy="1847088"/>
          </a:xfrm>
          <a:prstGeom prst="roundRect">
            <a:avLst>
              <a:gd name="adj" fmla="val 5940"/>
            </a:avLst>
          </a:prstGeom>
          <a:solidFill>
            <a:srgbClr val="E7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0" y="2148840"/>
            <a:ext cx="2148840" cy="1847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300" b="1" i="0">
                <a:solidFill>
                  <a:srgbClr val="5B6470"/>
                </a:solidFill>
                <a:latin typeface="Arial"/>
              </a:rPr>
              <a:t>BEFORE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64040" y="2148840"/>
            <a:ext cx="2194560" cy="1847088"/>
          </a:xfrm>
          <a:prstGeom prst="roundRect">
            <a:avLst>
              <a:gd name="adj" fmla="val 5940"/>
            </a:avLst>
          </a:prstGeom>
          <a:solidFill>
            <a:srgbClr val="E9F3DA"/>
          </a:solidFill>
          <a:ln w="12700">
            <a:solidFill>
              <a:srgbClr val="8CC6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2148840"/>
            <a:ext cx="2194560" cy="1847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60"/>
              </a:spcAft>
            </a:pPr>
            <a:r>
              <a:rPr sz="1300" b="1" i="0">
                <a:solidFill>
                  <a:srgbClr val="5E8A1F"/>
                </a:solidFill>
                <a:latin typeface="Arial"/>
              </a:rPr>
              <a:t>AFTER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B6470"/>
                </a:solidFill>
                <a:latin typeface="Arial"/>
              </a:rPr>
              <a:t>AI render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4041648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470"/>
                </a:solidFill>
                <a:latin typeface="Georgia"/>
              </a:rPr>
              <a:t>↑  Drop your before / AI-after photos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4526280"/>
            <a:ext cx="4434840" cy="1554480"/>
          </a:xfrm>
          <a:prstGeom prst="roundRect">
            <a:avLst>
              <a:gd name="adj" fmla="val 8235"/>
            </a:avLst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47548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64"/>
              </a:spcAft>
            </a:pPr>
            <a:r>
              <a:rPr sz="1200" b="1" i="0">
                <a:solidFill>
                  <a:srgbClr val="ECC371"/>
                </a:solidFill>
                <a:latin typeface="Arial"/>
              </a:rPr>
              <a:t>PRE-DRAWN CONTRACTOR BID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5074920"/>
            <a:ext cx="2743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350" b="0" i="0">
                <a:solidFill>
                  <a:srgbClr val="FFFFFF"/>
                </a:solidFill>
                <a:latin typeface="Arial"/>
              </a:rPr>
              <a:t>Kitchen &amp; baths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5074920"/>
            <a:ext cx="1828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$52,400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5376672"/>
            <a:ext cx="2743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350" b="0" i="0">
                <a:solidFill>
                  <a:srgbClr val="FFFFFF"/>
                </a:solidFill>
                <a:latin typeface="Arial"/>
              </a:rPr>
              <a:t>Roof, HVAC &amp;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5376672"/>
            <a:ext cx="1828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$28,900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5678424"/>
            <a:ext cx="2743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350" b="1" i="0">
                <a:solidFill>
                  <a:srgbClr val="B4F319"/>
                </a:solidFill>
                <a:latin typeface="Arial"/>
              </a:rPr>
              <a:t>Scope 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5678424"/>
            <a:ext cx="1828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350" b="1" i="0">
                <a:solidFill>
                  <a:srgbClr val="B4F319"/>
                </a:solidFill>
                <a:latin typeface="Arial"/>
              </a:rPr>
              <a:t>$90,000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8A1F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470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5E8A1F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20"/>
              </a:spcAft>
            </a:pPr>
            <a:r>
              <a:rPr sz="1300" b="1" i="0">
                <a:solidFill>
                  <a:srgbClr val="ECC371"/>
                </a:solidFill>
                <a:latin typeface="Arial"/>
              </a:rPr>
              <a:t>EDGE THREE · FOR YOUR BUYERS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FFFFFF"/>
                </a:solidFill>
                <a:latin typeface="Arial Black"/>
              </a:rPr>
              <a:t>Give the priced-out buyer a </a:t>
            </a:r>
            <a:r>
              <a:rPr sz="4200" b="0" i="0">
                <a:solidFill>
                  <a:srgbClr val="B4F319"/>
                </a:solidFill>
                <a:latin typeface="Arial Black"/>
              </a:rPr>
              <a:t>weapon.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42316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9AA4B2"/>
                </a:solidFill>
                <a:latin typeface="Arial"/>
              </a:rPr>
              <a:t>They can finally buy the worst house in the best neighborhood — and build it into exactly what they wanted.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429000"/>
            <a:ext cx="3429000" cy="2286000"/>
          </a:xfrm>
          <a:prstGeom prst="roundRect">
            <a:avLst>
              <a:gd name="adj" fmla="val 56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30752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64"/>
              </a:spcAft>
            </a:pPr>
            <a:r>
              <a:rPr sz="1900" b="0" i="0">
                <a:solidFill>
                  <a:srgbClr val="B4F319"/>
                </a:solidFill>
                <a:latin typeface="Arial Black"/>
              </a:rPr>
              <a:t>No more losing bids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15968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A4B2"/>
                </a:solidFill>
                <a:latin typeface="Arial"/>
              </a:rPr>
              <a:t>Compete on tired listings nobody else will touch — often with less competition and a stronger offer.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3429000"/>
            <a:ext cx="3429000" cy="2286000"/>
          </a:xfrm>
          <a:prstGeom prst="roundRect">
            <a:avLst>
              <a:gd name="adj" fmla="val 56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3730752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64"/>
              </a:spcAft>
            </a:pPr>
            <a:r>
              <a:rPr sz="1900" b="0" i="0">
                <a:solidFill>
                  <a:srgbClr val="B4F319"/>
                </a:solidFill>
                <a:latin typeface="Arial Black"/>
              </a:rPr>
              <a:t>No more compromise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4315968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A4B2"/>
                </a:solidFill>
                <a:latin typeface="Arial"/>
              </a:rPr>
              <a:t>Stop choosing between what they can afford and what they actually want. They get both.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6136" y="3429000"/>
            <a:ext cx="3429000" cy="2286000"/>
          </a:xfrm>
          <a:prstGeom prst="roundRect">
            <a:avLst>
              <a:gd name="adj" fmla="val 56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5" y="3730752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64"/>
              </a:spcAft>
            </a:pPr>
            <a:r>
              <a:rPr sz="1900" b="0" i="0">
                <a:solidFill>
                  <a:srgbClr val="B4F319"/>
                </a:solidFill>
                <a:latin typeface="Arial Black"/>
              </a:rPr>
              <a:t>They tell everyone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4315968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AA4B2"/>
                </a:solidFill>
                <a:latin typeface="Arial"/>
              </a:rPr>
              <a:t>The buyer who thought they were priced out becomes your loudest referral source.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F319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B4F319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75488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20"/>
              </a:spcAft>
            </a:pPr>
            <a:r>
              <a:rPr sz="1300" b="1" i="0">
                <a:solidFill>
                  <a:srgbClr val="CBA24A"/>
                </a:solidFill>
                <a:latin typeface="Arial"/>
              </a:rPr>
              <a:t>THE BUYER EDGE, AMPLIFIED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1521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A1D23"/>
                </a:solidFill>
                <a:latin typeface="Arial Black"/>
              </a:rPr>
              <a:t>The ADU income loophole </a:t>
            </a:r>
            <a:r>
              <a:rPr sz="3000" b="0" i="0">
                <a:solidFill>
                  <a:srgbClr val="5E8A1F"/>
                </a:solidFill>
                <a:latin typeface="Arial Black"/>
              </a:rPr>
              <a:t>almost no agent knows.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48840"/>
            <a:ext cx="66751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1584"/>
              </a:spcAft>
            </a:pPr>
            <a:r>
              <a:rPr sz="1700" b="0" i="0">
                <a:solidFill>
                  <a:srgbClr val="5B6470"/>
                </a:solidFill>
                <a:latin typeface="Arial"/>
              </a:rPr>
              <a:t>Future rental income from an added or existing unit can count in your buyer's debt-to-income — with FHA, 203(k), and Fannie Mae.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1584"/>
              </a:spcAft>
            </a:pPr>
            <a:r>
              <a:rPr sz="1700" b="0" i="0">
                <a:solidFill>
                  <a:srgbClr val="5B6470"/>
                </a:solidFill>
                <a:latin typeface="Arial"/>
              </a:rPr>
              <a:t>Roughly every </a:t>
            </a:r>
            <a:r>
              <a:rPr sz="1700" b="1" i="0">
                <a:solidFill>
                  <a:srgbClr val="1A1D23"/>
                </a:solidFill>
                <a:latin typeface="Arial"/>
              </a:rPr>
              <a:t>$1,500 in projected rent</a:t>
            </a:r>
            <a:r>
              <a:rPr sz="1700" b="0" i="0">
                <a:solidFill>
                  <a:srgbClr val="5B6470"/>
                </a:solidFill>
                <a:latin typeface="Arial"/>
              </a:rPr>
              <a:t> adds about </a:t>
            </a:r>
            <a:r>
              <a:rPr sz="1700" b="1" i="0">
                <a:solidFill>
                  <a:srgbClr val="5E8A1F"/>
                </a:solidFill>
                <a:latin typeface="Arial"/>
              </a:rPr>
              <a:t>$100,000</a:t>
            </a:r>
            <a:r>
              <a:rPr sz="1700" b="0" i="0">
                <a:solidFill>
                  <a:srgbClr val="5B6470"/>
                </a:solidFill>
                <a:latin typeface="Arial"/>
              </a:rPr>
              <a:t> in buying power.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1584"/>
              </a:spcAft>
            </a:pPr>
            <a:r>
              <a:rPr sz="1700" b="0" i="0">
                <a:solidFill>
                  <a:srgbClr val="5B6470"/>
                </a:solidFill>
                <a:latin typeface="Arial"/>
              </a:rPr>
              <a:t>It even includes non-conforming setups — mother-daughters, split-levels, basement apartments. A 203(k) can add or convert a unit to make it work.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D23"/>
                </a:solidFill>
                <a:latin typeface="Arial"/>
              </a:rPr>
              <a:t>This isn't a workaround. It's backed by HUD, Fannie Mae, and a bipartisan push in Congress to expand ADUs nationwide.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194560"/>
            <a:ext cx="3794760" cy="3794760"/>
          </a:xfrm>
          <a:prstGeom prst="roundRect">
            <a:avLst>
              <a:gd name="adj" fmla="val 3855"/>
            </a:avLst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2697480"/>
            <a:ext cx="3794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FFFFFF"/>
                </a:solidFill>
                <a:latin typeface="Arial Black"/>
              </a:rPr>
              <a:t>$1,500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3493008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A4B2"/>
                </a:solidFill>
                <a:latin typeface="Arial"/>
              </a:rPr>
              <a:t>in monthly 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3840480"/>
            <a:ext cx="3794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B4F319"/>
                </a:solidFill>
                <a:latin typeface="Arial"/>
              </a:rPr>
              <a:t>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343400"/>
            <a:ext cx="3794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B4F319"/>
                </a:solidFill>
                <a:latin typeface="Arial Black"/>
              </a:rPr>
              <a:t>$100,000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5138928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A4B2"/>
                </a:solidFill>
                <a:latin typeface="Arial"/>
              </a:rPr>
              <a:t>in buying power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8A1F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470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5E8A1F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457200"/>
            <a:ext cx="1554480" cy="16642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20"/>
              </a:spcAft>
            </a:pPr>
            <a:r>
              <a:rPr sz="1300" b="1" i="0">
                <a:solidFill>
                  <a:srgbClr val="ECC371"/>
                </a:solidFill>
                <a:latin typeface="Arial"/>
              </a:rPr>
              <a:t>PUTTING IT TO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9326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>
                <a:solidFill>
                  <a:srgbClr val="FFFFFF"/>
                </a:solidFill>
                <a:latin typeface="Arial Black"/>
              </a:rPr>
              <a:t>You're the </a:t>
            </a:r>
            <a:r>
              <a:rPr sz="3800" b="0" i="0">
                <a:solidFill>
                  <a:srgbClr val="B4F319"/>
                </a:solidFill>
                <a:latin typeface="Arial Black"/>
              </a:rPr>
              <a:t>connector</a:t>
            </a:r>
            <a:r>
              <a:rPr sz="3800" b="0" i="0">
                <a:solidFill>
                  <a:srgbClr val="FFFFFF"/>
                </a:solidFill>
                <a:latin typeface="Arial Black"/>
              </a:rPr>
              <a:t> — not the contractor.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6888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9AA4B2"/>
                </a:solidFill>
                <a:latin typeface="Arial"/>
              </a:rPr>
              <a:t>You don't have to explain the loan, understand every guideline, or become the expert. You just have to open the door.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520440"/>
            <a:ext cx="11000232" cy="1463040"/>
          </a:xfrm>
          <a:prstGeom prst="roundRect">
            <a:avLst>
              <a:gd name="adj" fmla="val 10000"/>
            </a:avLst>
          </a:prstGeom>
          <a:solidFill>
            <a:srgbClr val="171C24"/>
          </a:solidFill>
          <a:ln w="12700">
            <a:solidFill>
              <a:srgbClr val="5E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520440"/>
            <a:ext cx="1008583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1">
                <a:solidFill>
                  <a:srgbClr val="FFFFFF"/>
                </a:solidFill>
                <a:latin typeface="Georgia"/>
              </a:rPr>
              <a:t>“There's a product for that — and I know a team that does it right. We'll handle the rest for you. Sound good?”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257800"/>
            <a:ext cx="11000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4B2"/>
                </a:solidFill>
                <a:latin typeface="Arial"/>
              </a:rPr>
              <a:t>Be the agent who brings </a:t>
            </a:r>
            <a:r>
              <a:rPr sz="1600" b="1" i="0">
                <a:solidFill>
                  <a:srgbClr val="ECC371"/>
                </a:solidFill>
                <a:latin typeface="Arial"/>
              </a:rPr>
              <a:t>plug-and-play solutions</a:t>
            </a:r>
            <a:r>
              <a:rPr sz="1600" b="0" i="0">
                <a:solidFill>
                  <a:srgbClr val="9AA4B2"/>
                </a:solidFill>
                <a:latin typeface="Arial"/>
              </a:rPr>
              <a:t> to the problems every buyer and seller is facing in this market.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F319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B4F319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45720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B4F319"/>
                </a:solidFill>
                <a:latin typeface="Arial Black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160520" y="1874519"/>
            <a:ext cx="27432" cy="3108960"/>
          </a:xfrm>
          <a:prstGeom prst="rect">
            <a:avLst/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33172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40"/>
              </a:spcAft>
            </a:pPr>
            <a:r>
              <a:rPr sz="1500" b="1" i="0">
                <a:solidFill>
                  <a:srgbClr val="ECC371"/>
                </a:solidFill>
                <a:latin typeface="Arial"/>
              </a:rPr>
              <a:t>PART THREE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788920"/>
            <a:ext cx="70408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Arial Black"/>
              </a:rPr>
              <a:t>How it </a:t>
            </a:r>
            <a:r>
              <a:rPr sz="4000" b="0" i="0">
                <a:solidFill>
                  <a:srgbClr val="B4F319"/>
                </a:solidFill>
                <a:latin typeface="Arial Black"/>
              </a:rPr>
              <a:t>actually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F319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B4F319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75488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20"/>
              </a:spcAft>
            </a:pPr>
            <a:r>
              <a:rPr sz="1300" b="1" i="0">
                <a:solidFill>
                  <a:srgbClr val="CBA24A"/>
                </a:solidFill>
                <a:latin typeface="Arial"/>
              </a:rPr>
              <a:t>THE AGENT'S ELIGIBILITY 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1155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>
                <a:solidFill>
                  <a:srgbClr val="1A1D23"/>
                </a:solidFill>
                <a:latin typeface="Arial Black"/>
              </a:rPr>
              <a:t>What </a:t>
            </a:r>
            <a:r>
              <a:rPr sz="3300" b="0" i="0">
                <a:solidFill>
                  <a:srgbClr val="5E8A1F"/>
                </a:solidFill>
                <a:latin typeface="Arial Black"/>
              </a:rPr>
              <a:t>qualifies</a:t>
            </a:r>
            <a:r>
              <a:rPr sz="3300" b="0" i="0">
                <a:solidFill>
                  <a:srgbClr val="1A1D23"/>
                </a:solidFill>
                <a:latin typeface="Arial Black"/>
              </a:rPr>
              <a:t> — and what </a:t>
            </a:r>
            <a:r>
              <a:rPr sz="3300" b="0" i="0">
                <a:solidFill>
                  <a:srgbClr val="D64545"/>
                </a:solidFill>
                <a:latin typeface="Arial Black"/>
              </a:rPr>
              <a:t>doesn't</a:t>
            </a:r>
            <a:r>
              <a:rPr sz="3300" b="0" i="0">
                <a:solidFill>
                  <a:srgbClr val="1A1D23"/>
                </a:solidFill>
                <a:latin typeface="Arial Black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103120"/>
            <a:ext cx="5577840" cy="4023360"/>
          </a:xfrm>
          <a:prstGeom prst="roundRect">
            <a:avLst>
              <a:gd name="adj" fmla="val 3181"/>
            </a:avLst>
          </a:prstGeom>
          <a:solidFill>
            <a:srgbClr val="EE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E8A1F"/>
                </a:solidFill>
                <a:latin typeface="Arial Black"/>
              </a:rPr>
              <a:t>QUALIFIES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916936"/>
            <a:ext cx="34747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5E8A1F"/>
                </a:solidFill>
                <a:latin typeface="Arial Unicode M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944368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1A1D23"/>
                </a:solidFill>
                <a:latin typeface="Arial"/>
              </a:rPr>
              <a:t>1–4 unit properties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511296"/>
            <a:ext cx="34747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5E8A1F"/>
                </a:solidFill>
                <a:latin typeface="Arial Unicode M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538728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1A1D23"/>
                </a:solidFill>
                <a:latin typeface="Arial"/>
              </a:rPr>
              <a:t>Mixed-use (51%+ residential square footage)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105656"/>
            <a:ext cx="34747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5E8A1F"/>
                </a:solidFill>
                <a:latin typeface="Arial Unicode M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133088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1A1D23"/>
                </a:solidFill>
                <a:latin typeface="Arial"/>
              </a:rPr>
              <a:t>Any condition — foundation-in-ground to move-in 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700016"/>
            <a:ext cx="34747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5E8A1F"/>
                </a:solidFill>
                <a:latin typeface="Arial Unicode M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727448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1A1D23"/>
                </a:solidFill>
                <a:latin typeface="Arial"/>
              </a:rPr>
              <a:t>Owner-occupied (at least 1 year after closing)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5294376"/>
            <a:ext cx="34747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5E8A1F"/>
                </a:solidFill>
                <a:latin typeface="Arial Unicode M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321808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1A1D23"/>
                </a:solidFill>
                <a:latin typeface="Arial"/>
              </a:rPr>
              <a:t>Virtually any renovation, within budget &amp; FHA limits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103120"/>
            <a:ext cx="5486400" cy="4023360"/>
          </a:xfrm>
          <a:prstGeom prst="roundRect">
            <a:avLst>
              <a:gd name="adj" fmla="val 3181"/>
            </a:avLst>
          </a:prstGeom>
          <a:solidFill>
            <a:srgbClr val="F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64545"/>
                </a:solidFill>
                <a:latin typeface="Arial Black"/>
              </a:rPr>
              <a:t>DOESN'T QUALIFY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944368"/>
            <a:ext cx="34747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D64545"/>
                </a:solidFill>
                <a:latin typeface="Arial Unicode MS"/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971800"/>
            <a:ext cx="43434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1A1D23"/>
                </a:solidFill>
                <a:latin typeface="Arial"/>
              </a:rPr>
              <a:t>New construction, teardowns, or building on a vacant 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602736"/>
            <a:ext cx="34747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D64545"/>
                </a:solidFill>
                <a:latin typeface="Arial Unicode MS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630168"/>
            <a:ext cx="43434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1A1D23"/>
                </a:solidFill>
                <a:latin typeface="Arial"/>
              </a:rPr>
              <a:t>Mobile homes, co-ops, and commercial properties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261104"/>
            <a:ext cx="34747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D64545"/>
                </a:solidFill>
                <a:latin typeface="Arial Unicode MS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288536"/>
            <a:ext cx="43434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1A1D23"/>
                </a:solidFill>
                <a:latin typeface="Arial"/>
              </a:rPr>
              <a:t>Luxury add-ons like tennis courts or pool houses*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25780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B6470"/>
                </a:solidFill>
                <a:latin typeface="Georgia"/>
              </a:rPr>
              <a:t>*Renovation (HomeStyle) loans can cover some luxury items the FHA 203(k) won't.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8A1F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470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5E8A1F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75488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20"/>
              </a:spcAft>
            </a:pPr>
            <a:r>
              <a:rPr sz="1300" b="1" i="0">
                <a:solidFill>
                  <a:srgbClr val="CBA24A"/>
                </a:solidFill>
                <a:latin typeface="Arial"/>
              </a:rPr>
              <a:t>THE 203(K) IN PLAIN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1155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>
                <a:solidFill>
                  <a:srgbClr val="1A1D23"/>
                </a:solidFill>
                <a:latin typeface="Arial Black"/>
              </a:rPr>
              <a:t>Guidelines, </a:t>
            </a:r>
            <a:r>
              <a:rPr sz="3300" b="0" i="0">
                <a:solidFill>
                  <a:srgbClr val="5E8A1F"/>
                </a:solidFill>
                <a:latin typeface="Arial Black"/>
              </a:rPr>
              <a:t>without the jargon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103120"/>
            <a:ext cx="5394960" cy="1170432"/>
          </a:xfrm>
          <a:prstGeom prst="roundRect">
            <a:avLst>
              <a:gd name="adj" fmla="val 9375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6771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76"/>
              </a:spcAft>
            </a:pPr>
            <a:r>
              <a:rPr sz="1600" b="0" i="0">
                <a:solidFill>
                  <a:srgbClr val="5E8A1F"/>
                </a:solidFill>
                <a:latin typeface="Arial Black"/>
              </a:rPr>
              <a:t>Occupancy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70048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470"/>
                </a:solidFill>
                <a:latin typeface="Arial"/>
              </a:rPr>
              <a:t>Owner-occupied for 1 year. Does NOT have to be a first-time buyer.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394960" cy="1170432"/>
          </a:xfrm>
          <a:prstGeom prst="roundRect">
            <a:avLst>
              <a:gd name="adj" fmla="val 9375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26771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76"/>
              </a:spcAft>
            </a:pPr>
            <a:r>
              <a:rPr sz="1600" b="0" i="0">
                <a:solidFill>
                  <a:srgbClr val="5E8A1F"/>
                </a:solidFill>
                <a:latin typeface="Arial Black"/>
              </a:rPr>
              <a:t>Credit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670048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470"/>
                </a:solidFill>
                <a:latin typeface="Arial"/>
              </a:rPr>
              <a:t>580+ to qualify; 620+ makes everything smoother.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401568"/>
            <a:ext cx="5394960" cy="1170432"/>
          </a:xfrm>
          <a:prstGeom prst="roundRect">
            <a:avLst>
              <a:gd name="adj" fmla="val 9375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76"/>
              </a:spcAft>
            </a:pPr>
            <a:r>
              <a:rPr sz="1600" b="0" i="0">
                <a:solidFill>
                  <a:srgbClr val="5E8A1F"/>
                </a:solidFill>
                <a:latin typeface="Arial Black"/>
              </a:rPr>
              <a:t>Income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68496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470"/>
                </a:solidFill>
                <a:latin typeface="Arial"/>
              </a:rPr>
              <a:t>Two years of history — W-2 preferred, but not required.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401568"/>
            <a:ext cx="5394960" cy="1170432"/>
          </a:xfrm>
          <a:prstGeom prst="roundRect">
            <a:avLst>
              <a:gd name="adj" fmla="val 9375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76"/>
              </a:spcAft>
            </a:pPr>
            <a:r>
              <a:rPr sz="1600" b="0" i="0">
                <a:solidFill>
                  <a:srgbClr val="5E8A1F"/>
                </a:solidFill>
                <a:latin typeface="Arial Black"/>
              </a:rPr>
              <a:t>Down payment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968496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470"/>
                </a:solidFill>
                <a:latin typeface="Arial"/>
              </a:rPr>
              <a:t>Just 3.5% of the TOTAL — purchase plus renovation.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700016"/>
            <a:ext cx="5394960" cy="1170432"/>
          </a:xfrm>
          <a:prstGeom prst="roundRect">
            <a:avLst>
              <a:gd name="adj" fmla="val 9375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6460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76"/>
              </a:spcAft>
            </a:pPr>
            <a:r>
              <a:rPr sz="1600" b="0" i="0">
                <a:solidFill>
                  <a:srgbClr val="5E8A1F"/>
                </a:solidFill>
                <a:latin typeface="Arial Black"/>
              </a:rPr>
              <a:t>Condition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66944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470"/>
                </a:solidFill>
                <a:latin typeface="Arial"/>
              </a:rPr>
              <a:t>Any condition, as long as an existing structure is there.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700016"/>
            <a:ext cx="5394960" cy="1170432"/>
          </a:xfrm>
          <a:prstGeom prst="roundRect">
            <a:avLst>
              <a:gd name="adj" fmla="val 9375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86460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76"/>
              </a:spcAft>
            </a:pPr>
            <a:r>
              <a:rPr sz="1600" b="0" i="0">
                <a:solidFill>
                  <a:srgbClr val="5E8A1F"/>
                </a:solidFill>
                <a:latin typeface="Arial Black"/>
              </a:rPr>
              <a:t>Standard vs Limited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266944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470"/>
                </a:solidFill>
                <a:latin typeface="Arial"/>
              </a:rPr>
              <a:t>Limited = under $75K reno, no structural work, no HUD consultant.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6053328"/>
            <a:ext cx="11000232" cy="548640"/>
          </a:xfrm>
          <a:prstGeom prst="roundRect">
            <a:avLst>
              <a:gd name="adj" fmla="val 16666"/>
            </a:avLst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053328"/>
            <a:ext cx="110002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550" b="1" i="0">
                <a:solidFill>
                  <a:srgbClr val="B4F319"/>
                </a:solidFill>
                <a:latin typeface="Arial"/>
              </a:rPr>
              <a:t>Example:  </a:t>
            </a:r>
            <a:r>
              <a:rPr sz="1550" b="0" i="0">
                <a:solidFill>
                  <a:srgbClr val="FFFFFF"/>
                </a:solidFill>
                <a:latin typeface="Arial"/>
              </a:rPr>
              <a:t>$350K home  +  $150K reno  =  $500K loan  →  just </a:t>
            </a:r>
            <a:r>
              <a:rPr sz="1550" b="1" i="0">
                <a:solidFill>
                  <a:srgbClr val="B4F319"/>
                </a:solidFill>
                <a:latin typeface="Arial"/>
              </a:rPr>
              <a:t>$17,500 down.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8A1F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470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5E8A1F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20"/>
              </a:spcAft>
            </a:pPr>
            <a:r>
              <a:rPr sz="1300" b="1" i="0">
                <a:solidFill>
                  <a:srgbClr val="ECC371"/>
                </a:solidFill>
                <a:latin typeface="Arial"/>
              </a:rPr>
              <a:t>FROM ACCEPTED OFFER TO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FFFFF"/>
                </a:solidFill>
                <a:latin typeface="Arial Black"/>
              </a:rPr>
              <a:t>The 203(k) fast-track — </a:t>
            </a:r>
            <a:r>
              <a:rPr sz="3600" b="0" i="0">
                <a:solidFill>
                  <a:srgbClr val="B4F319"/>
                </a:solidFill>
                <a:latin typeface="Arial Black"/>
              </a:rPr>
              <a:t>closed in 45 days.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3520440"/>
            <a:ext cx="9966960" cy="27432"/>
          </a:xfrm>
          <a:prstGeom prst="rect">
            <a:avLst/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3108960"/>
            <a:ext cx="822960" cy="822960"/>
          </a:xfrm>
          <a:prstGeom prst="ellipse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127248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2600" b="1" i="0">
                <a:solidFill>
                  <a:srgbClr val="0F1319"/>
                </a:solidFill>
                <a:latin typeface="Arial Blac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700" b="0" i="0">
                <a:solidFill>
                  <a:srgbClr val="FFFFFF"/>
                </a:solidFill>
                <a:latin typeface="Arial Black"/>
              </a:rPr>
              <a:t>Under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17720"/>
            <a:ext cx="2606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AA4B2"/>
                </a:solidFill>
                <a:latin typeface="Arial"/>
              </a:rPr>
              <a:t>Make the competitive offer — as-is, appraisal flexible, close in 45.</a:t>
            </a:r>
          </a:p>
        </p:txBody>
      </p:sp>
      <p:sp>
        <p:nvSpPr>
          <p:cNvPr id="10" name="Oval 9"/>
          <p:cNvSpPr/>
          <p:nvPr/>
        </p:nvSpPr>
        <p:spPr>
          <a:xfrm>
            <a:off x="3867912" y="3108960"/>
            <a:ext cx="822960" cy="822960"/>
          </a:xfrm>
          <a:prstGeom prst="ellipse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7912" y="3127248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2600" b="1" i="0">
                <a:solidFill>
                  <a:srgbClr val="0F1319"/>
                </a:solidFill>
                <a:latin typeface="Arial Blac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1" y="406908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700" b="0" i="0">
                <a:solidFill>
                  <a:srgbClr val="FFFFFF"/>
                </a:solidFill>
                <a:latin typeface="Arial Black"/>
              </a:rPr>
              <a:t>Consultant &amp;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1" y="4617720"/>
            <a:ext cx="2606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AA4B2"/>
                </a:solidFill>
                <a:latin typeface="Arial"/>
              </a:rPr>
              <a:t>A consultant inspects and builds a clear Scope of Work (SOR).</a:t>
            </a:r>
          </a:p>
        </p:txBody>
      </p:sp>
      <p:sp>
        <p:nvSpPr>
          <p:cNvPr id="14" name="Oval 13"/>
          <p:cNvSpPr/>
          <p:nvPr/>
        </p:nvSpPr>
        <p:spPr>
          <a:xfrm>
            <a:off x="6638544" y="3108960"/>
            <a:ext cx="822960" cy="822960"/>
          </a:xfrm>
          <a:prstGeom prst="ellipse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3127248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2600" b="1" i="0">
                <a:solidFill>
                  <a:srgbClr val="0F1319"/>
                </a:solidFill>
                <a:latin typeface="Arial Blac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406908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700" b="0" i="0">
                <a:solidFill>
                  <a:srgbClr val="FFFFFF"/>
                </a:solidFill>
                <a:latin typeface="Arial Black"/>
              </a:rPr>
              <a:t>Bid leveling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4617720"/>
            <a:ext cx="2606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AA4B2"/>
                </a:solidFill>
                <a:latin typeface="Arial"/>
              </a:rPr>
              <a:t>3–5 licensed contractors bid; we level them and lock the numbers.</a:t>
            </a:r>
          </a:p>
        </p:txBody>
      </p:sp>
      <p:sp>
        <p:nvSpPr>
          <p:cNvPr id="18" name="Oval 17"/>
          <p:cNvSpPr/>
          <p:nvPr/>
        </p:nvSpPr>
        <p:spPr>
          <a:xfrm>
            <a:off x="9409176" y="3108960"/>
            <a:ext cx="822960" cy="822960"/>
          </a:xfrm>
          <a:prstGeom prst="ellipse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9176" y="3127248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2600" b="1" i="0">
                <a:solidFill>
                  <a:srgbClr val="0F1319"/>
                </a:solidFill>
                <a:latin typeface="Arial Black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406908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700" b="0" i="0">
                <a:solidFill>
                  <a:srgbClr val="FFFFFF"/>
                </a:solidFill>
                <a:latin typeface="Arial Black"/>
              </a:rPr>
              <a:t>Submit &amp; close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4617720"/>
            <a:ext cx="2606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AA4B2"/>
                </a:solidFill>
                <a:latin typeface="Arial"/>
              </a:rPr>
              <a:t>The lender packages it, the bank signs off, and your buyer gets the keys.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F319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B4F319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75488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20"/>
              </a:spcAft>
            </a:pPr>
            <a:r>
              <a:rPr sz="1300" b="1" i="0">
                <a:solidFill>
                  <a:srgbClr val="D64545"/>
                </a:solidFill>
                <a:latin typeface="Arial"/>
              </a:rPr>
              <a:t>WHAT ACTUALLY SLOWS DEALS 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1338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A1D23"/>
                </a:solidFill>
                <a:latin typeface="Arial Black"/>
              </a:rPr>
              <a:t>Common pitfalls — </a:t>
            </a:r>
            <a:r>
              <a:rPr sz="3100" b="0" i="0">
                <a:solidFill>
                  <a:srgbClr val="5E8A1F"/>
                </a:solidFill>
                <a:latin typeface="Arial Black"/>
              </a:rPr>
              <a:t>and how we kill them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148840"/>
            <a:ext cx="11000232" cy="822960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2231136"/>
            <a:ext cx="34747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D64545"/>
                </a:solidFill>
                <a:latin typeface="Arial Unicode MS"/>
              </a:rPr>
              <a:t>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7592" y="2148840"/>
            <a:ext cx="2926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550" b="1" i="0">
                <a:solidFill>
                  <a:srgbClr val="1A1D23"/>
                </a:solidFill>
                <a:latin typeface="Arial"/>
              </a:rPr>
              <a:t>Bad contractors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30752" y="2258568"/>
            <a:ext cx="32918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5E8A1F"/>
                </a:solidFill>
                <a:latin typeface="Arial Unicode MS"/>
              </a:rPr>
              <a:t>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148840"/>
            <a:ext cx="7223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5B6470"/>
                </a:solidFill>
                <a:latin typeface="Arial"/>
              </a:rPr>
              <a:t>Any licensed, insured, experienced contractor qualifies — no special certification.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090672"/>
            <a:ext cx="11000232" cy="822960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3172968"/>
            <a:ext cx="34747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D64545"/>
                </a:solidFill>
                <a:latin typeface="Arial Unicode MS"/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3090672"/>
            <a:ext cx="2926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550" b="1" i="0">
                <a:solidFill>
                  <a:srgbClr val="1A1D23"/>
                </a:solidFill>
                <a:latin typeface="Arial"/>
              </a:rPr>
              <a:t>Unclear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3200399"/>
            <a:ext cx="32918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5E8A1F"/>
                </a:solidFill>
                <a:latin typeface="Arial Unicode MS"/>
              </a:rPr>
              <a:t>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090672"/>
            <a:ext cx="7223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5B6470"/>
                </a:solidFill>
                <a:latin typeface="Arial"/>
              </a:rPr>
              <a:t>A consultant defines a clean, complete Scope of Work up front.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32504"/>
            <a:ext cx="11000232" cy="822960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4114800"/>
            <a:ext cx="34747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D64545"/>
                </a:solidFill>
                <a:latin typeface="Arial Unicode MS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4032504"/>
            <a:ext cx="2926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550" b="1" i="0">
                <a:solidFill>
                  <a:srgbClr val="1A1D23"/>
                </a:solidFill>
                <a:latin typeface="Arial"/>
              </a:rPr>
              <a:t>Missing paperwork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4142232"/>
            <a:ext cx="32918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5E8A1F"/>
                </a:solidFill>
                <a:latin typeface="Arial Unicode MS"/>
              </a:rPr>
              <a:t>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032504"/>
            <a:ext cx="7223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5B6470"/>
                </a:solidFill>
                <a:latin typeface="Arial"/>
              </a:rPr>
              <a:t>Pre-built, fill-in-the-blank DocuSign packets. No guesswork.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974336"/>
            <a:ext cx="11000232" cy="822960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" y="5056632"/>
            <a:ext cx="34747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D64545"/>
                </a:solidFill>
                <a:latin typeface="Arial Unicode MS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4974336"/>
            <a:ext cx="2926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550" b="1" i="0">
                <a:solidFill>
                  <a:srgbClr val="1A1D23"/>
                </a:solidFill>
                <a:latin typeface="Arial"/>
              </a:rPr>
              <a:t>Chasing the cheapest bid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752" y="5084064"/>
            <a:ext cx="32918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5E8A1F"/>
                </a:solidFill>
                <a:latin typeface="Arial Unicode MS"/>
              </a:rPr>
              <a:t>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974336"/>
            <a:ext cx="7223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5B6470"/>
                </a:solidFill>
                <a:latin typeface="Arial"/>
              </a:rPr>
              <a:t>You can't save your way through a reno — we renegotiate, not cut corners.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035040"/>
            <a:ext cx="110002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600" b="0" i="0">
                <a:solidFill>
                  <a:srgbClr val="1A1D23"/>
                </a:solidFill>
                <a:latin typeface="Arial"/>
              </a:rPr>
              <a:t>Done right, a 203(k) should close in </a:t>
            </a:r>
            <a:r>
              <a:rPr sz="1600" b="1" i="0">
                <a:solidFill>
                  <a:srgbClr val="5E8A1F"/>
                </a:solidFill>
                <a:latin typeface="Arial"/>
              </a:rPr>
              <a:t>45 days</a:t>
            </a:r>
            <a:r>
              <a:rPr sz="1600" b="0" i="0">
                <a:solidFill>
                  <a:srgbClr val="1A1D23"/>
                </a:solidFill>
                <a:latin typeface="Arial"/>
              </a:rPr>
              <a:t> — the same as any other loan.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8A1F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470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5E8A1F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45720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B4F319"/>
                </a:solidFill>
                <a:latin typeface="Arial Black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60520" y="1874519"/>
            <a:ext cx="27432" cy="3108960"/>
          </a:xfrm>
          <a:prstGeom prst="rect">
            <a:avLst/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33172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40"/>
              </a:spcAft>
            </a:pPr>
            <a:r>
              <a:rPr sz="1500" b="1" i="0">
                <a:solidFill>
                  <a:srgbClr val="ECC371"/>
                </a:solidFill>
                <a:latin typeface="Arial"/>
              </a:rPr>
              <a:t>PART FOUR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788920"/>
            <a:ext cx="70408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Arial Black"/>
              </a:rPr>
              <a:t>Why the </a:t>
            </a:r>
            <a:r>
              <a:rPr sz="4000" b="0" i="0">
                <a:solidFill>
                  <a:srgbClr val="B4F319"/>
                </a:solidFill>
                <a:latin typeface="Arial Black"/>
              </a:rPr>
              <a:t>lender</a:t>
            </a:r>
            <a:r>
              <a:rPr sz="4000" b="0" i="0">
                <a:solidFill>
                  <a:srgbClr val="FFFFFF"/>
                </a:solidFill>
                <a:latin typeface="Arial Black"/>
              </a:rPr>
              <a:t> makes or breaks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F319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B4F319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75488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20"/>
              </a:spcAft>
            </a:pPr>
            <a:r>
              <a:rPr sz="1300" b="1" i="0">
                <a:solidFill>
                  <a:srgbClr val="CBA24A"/>
                </a:solidFill>
                <a:latin typeface="Arial"/>
              </a:rPr>
              <a:t>THIS IS WHERE DEALS LIVE OR DIE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1155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>
                <a:solidFill>
                  <a:srgbClr val="1A1D23"/>
                </a:solidFill>
                <a:latin typeface="Arial Black"/>
              </a:rPr>
              <a:t>A </a:t>
            </a:r>
            <a:r>
              <a:rPr sz="3300" b="0" i="0">
                <a:solidFill>
                  <a:srgbClr val="5E8A1F"/>
                </a:solidFill>
                <a:latin typeface="Arial Black"/>
              </a:rPr>
              <a:t>specialist</a:t>
            </a:r>
            <a:r>
              <a:rPr sz="3300" b="0" i="0">
                <a:solidFill>
                  <a:srgbClr val="1A1D23"/>
                </a:solidFill>
                <a:latin typeface="Arial Black"/>
              </a:rPr>
              <a:t> — not a generalist.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194560"/>
            <a:ext cx="5394960" cy="3703320"/>
          </a:xfrm>
          <a:prstGeom prst="roundRect">
            <a:avLst>
              <a:gd name="adj" fmla="val 3456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5146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80"/>
              </a:spcAft>
            </a:pPr>
            <a:r>
              <a:rPr sz="1400" b="1" i="0">
                <a:solidFill>
                  <a:srgbClr val="5B6470"/>
                </a:solidFill>
                <a:latin typeface="Arial Black"/>
              </a:rPr>
              <a:t>THE GENERALIST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072384"/>
            <a:ext cx="32918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D64545"/>
                </a:solidFill>
                <a:latin typeface="Arial Unicode MS"/>
              </a:rPr>
              <a:t>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3099816"/>
            <a:ext cx="44805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1A1D23"/>
                </a:solidFill>
                <a:latin typeface="Arial"/>
              </a:rPr>
              <a:t>Only really understands easy, traditional loans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694176"/>
            <a:ext cx="32918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D64545"/>
                </a:solidFill>
                <a:latin typeface="Arial Unicode MS"/>
              </a:rPr>
              <a:t>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721608"/>
            <a:ext cx="44805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1A1D23"/>
                </a:solidFill>
                <a:latin typeface="Arial"/>
              </a:rPr>
              <a:t>Treats the 203(k) like a transaction, not a team effort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315968"/>
            <a:ext cx="32918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D64545"/>
                </a:solidFill>
                <a:latin typeface="Arial Unicode MS"/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343400"/>
            <a:ext cx="44805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1A1D23"/>
                </a:solidFill>
                <a:latin typeface="Arial"/>
              </a:rPr>
              <a:t>Creates delays — or kills the deal outright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937760"/>
            <a:ext cx="32918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D64545"/>
                </a:solidFill>
                <a:latin typeface="Arial Unicode MS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965192"/>
            <a:ext cx="44805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1A1D23"/>
                </a:solidFill>
                <a:latin typeface="Arial"/>
              </a:rPr>
              <a:t>Steers your client away from the best product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194560"/>
            <a:ext cx="5394960" cy="3703320"/>
          </a:xfrm>
          <a:prstGeom prst="roundRect">
            <a:avLst>
              <a:gd name="adj" fmla="val 3456"/>
            </a:avLst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5146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80"/>
              </a:spcAft>
            </a:pPr>
            <a:r>
              <a:rPr sz="1400" b="1" i="0">
                <a:solidFill>
                  <a:srgbClr val="B4F319"/>
                </a:solidFill>
                <a:latin typeface="Arial Black"/>
              </a:rPr>
              <a:t>THE 203k SPECIALIST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3072384"/>
            <a:ext cx="32918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B4F319"/>
                </a:solidFill>
                <a:latin typeface="Arial Unicode M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099816"/>
            <a:ext cx="44805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FFFFFF"/>
                </a:solidFill>
                <a:latin typeface="Arial"/>
              </a:rPr>
              <a:t>Sets the strategy from day one — budget, ARV, contractors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3694176"/>
            <a:ext cx="32918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B4F319"/>
                </a:solidFill>
                <a:latin typeface="Arial Unicode M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721608"/>
            <a:ext cx="44805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FFFFFF"/>
                </a:solidFill>
                <a:latin typeface="Arial"/>
              </a:rPr>
              <a:t>Brings a network of consultants and vetted contractors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4315968"/>
            <a:ext cx="32918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B4F319"/>
                </a:solidFill>
                <a:latin typeface="Arial Unicode M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4343400"/>
            <a:ext cx="44805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FFFFFF"/>
                </a:solidFill>
                <a:latin typeface="Arial"/>
              </a:rPr>
              <a:t>Runs it as a team effort with you and your 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4937760"/>
            <a:ext cx="32918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B4F319"/>
                </a:solidFill>
                <a:latin typeface="Arial Unicode M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965192"/>
            <a:ext cx="44805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FFFFFF"/>
                </a:solidFill>
                <a:latin typeface="Arial"/>
              </a:rPr>
              <a:t>Protects the deal — and the relationship behind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035040"/>
            <a:ext cx="110002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600" b="0" i="0">
                <a:solidFill>
                  <a:srgbClr val="1A1D23"/>
                </a:solidFill>
                <a:latin typeface="Arial"/>
              </a:rPr>
              <a:t>If you or someone you know had a bad renovation-loan experience, there's a </a:t>
            </a:r>
            <a:r>
              <a:rPr sz="1600" b="1" i="0">
                <a:solidFill>
                  <a:srgbClr val="5E8A1F"/>
                </a:solidFill>
                <a:latin typeface="Arial"/>
              </a:rPr>
              <a:t>90% chance</a:t>
            </a:r>
            <a:r>
              <a:rPr sz="1600" b="0" i="0">
                <a:solidFill>
                  <a:srgbClr val="1A1D23"/>
                </a:solidFill>
                <a:latin typeface="Arial"/>
              </a:rPr>
              <a:t> it was the wrong team — not the loan.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8A1F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470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5E8A1F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457200"/>
            <a:ext cx="1554480" cy="16642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20"/>
              </a:spcAft>
            </a:pPr>
            <a:r>
              <a:rPr sz="1300" b="1" i="0">
                <a:solidFill>
                  <a:srgbClr val="ECC371"/>
                </a:solidFill>
                <a:latin typeface="Arial"/>
              </a:rPr>
              <a:t>YOUR DONE-FOR-YOU 203(K)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FFFFF"/>
                </a:solidFill>
                <a:latin typeface="Arial Black"/>
              </a:rPr>
              <a:t>What </a:t>
            </a:r>
            <a:r>
              <a:rPr sz="3400" b="0" i="0">
                <a:solidFill>
                  <a:srgbClr val="ECC371"/>
                </a:solidFill>
                <a:latin typeface="Arial Black"/>
              </a:rPr>
              <a:t>Team Rizzolo</a:t>
            </a:r>
            <a:r>
              <a:rPr sz="3400" b="0" i="0">
                <a:solidFill>
                  <a:srgbClr val="FFFFFF"/>
                </a:solidFill>
                <a:latin typeface="Arial Black"/>
              </a:rPr>
              <a:t> + </a:t>
            </a:r>
            <a:r>
              <a:rPr sz="3400" b="0" i="0">
                <a:solidFill>
                  <a:srgbClr val="B4F319"/>
                </a:solidFill>
                <a:latin typeface="Arial Black"/>
              </a:rPr>
              <a:t>203k Way</a:t>
            </a:r>
            <a:r>
              <a:rPr sz="3400" b="0" i="0">
                <a:solidFill>
                  <a:srgbClr val="FFFFFF"/>
                </a:solidFill>
                <a:latin typeface="Arial Black"/>
              </a:rPr>
              <a:t> bring.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331720"/>
            <a:ext cx="3429000" cy="1572768"/>
          </a:xfrm>
          <a:prstGeom prst="roundRect">
            <a:avLst>
              <a:gd name="adj" fmla="val 8139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05456"/>
            <a:ext cx="365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B4F319"/>
                </a:solidFill>
                <a:latin typeface="Arial Unicode M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2542032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76"/>
              </a:spcAft>
            </a:pPr>
            <a:r>
              <a:rPr sz="1550" b="0" i="0">
                <a:solidFill>
                  <a:srgbClr val="FFFFFF"/>
                </a:solidFill>
                <a:latin typeface="Arial Black"/>
              </a:rPr>
              <a:t>Contractor &amp; consultant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246120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4B2"/>
                </a:solidFill>
                <a:latin typeface="Arial"/>
              </a:rPr>
              <a:t>Vetted, licensed, reno-ready pros in your market — no scrambling.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2331720"/>
            <a:ext cx="3429000" cy="1572768"/>
          </a:xfrm>
          <a:prstGeom prst="roundRect">
            <a:avLst>
              <a:gd name="adj" fmla="val 8139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505456"/>
            <a:ext cx="365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B4F319"/>
                </a:solidFill>
                <a:latin typeface="Arial Unicode M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0056" y="2542032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76"/>
              </a:spcAft>
            </a:pPr>
            <a:r>
              <a:rPr sz="1550" b="0" i="0">
                <a:solidFill>
                  <a:srgbClr val="FFFFFF"/>
                </a:solidFill>
                <a:latin typeface="Arial Black"/>
              </a:rPr>
              <a:t>AI renders &amp; material boards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3246120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4B2"/>
                </a:solidFill>
                <a:latin typeface="Arial"/>
              </a:rPr>
              <a:t>Show the finished vision at open houses and listing appointments.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6136" y="2331720"/>
            <a:ext cx="3429000" cy="1572768"/>
          </a:xfrm>
          <a:prstGeom prst="roundRect">
            <a:avLst>
              <a:gd name="adj" fmla="val 8139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2505456"/>
            <a:ext cx="365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B4F319"/>
                </a:solidFill>
                <a:latin typeface="Arial Unicode M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95944" y="2542032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76"/>
              </a:spcAft>
            </a:pPr>
            <a:r>
              <a:rPr sz="1550" b="0" i="0">
                <a:solidFill>
                  <a:srgbClr val="FFFFFF"/>
                </a:solidFill>
                <a:latin typeface="Arial Black"/>
              </a:rPr>
              <a:t>Pre-built DocuSign packets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3246120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4B2"/>
                </a:solidFill>
                <a:latin typeface="Arial"/>
              </a:rPr>
              <a:t>Fill-in-the-blank paperwork that keeps deals moving fast.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114800"/>
            <a:ext cx="3429000" cy="1572768"/>
          </a:xfrm>
          <a:prstGeom prst="roundRect">
            <a:avLst>
              <a:gd name="adj" fmla="val 8139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288536"/>
            <a:ext cx="365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B4F319"/>
                </a:solidFill>
                <a:latin typeface="Arial Unicode M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4325112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76"/>
              </a:spcAft>
            </a:pPr>
            <a:r>
              <a:rPr sz="1550" b="0" i="0">
                <a:solidFill>
                  <a:srgbClr val="FFFFFF"/>
                </a:solidFill>
                <a:latin typeface="Arial Black"/>
              </a:rPr>
              <a:t>Day-one deal 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5029200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4B2"/>
                </a:solidFill>
                <a:latin typeface="Arial"/>
              </a:rPr>
              <a:t>Budget, ARV, and contractor prep set before the offer is written.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0248" y="4114800"/>
            <a:ext cx="3429000" cy="1572768"/>
          </a:xfrm>
          <a:prstGeom prst="roundRect">
            <a:avLst>
              <a:gd name="adj" fmla="val 8139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4288536"/>
            <a:ext cx="365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B4F319"/>
                </a:solidFill>
                <a:latin typeface="Arial Unicode M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0056" y="4325112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76"/>
              </a:spcAft>
            </a:pPr>
            <a:r>
              <a:rPr sz="1550" b="0" i="0">
                <a:solidFill>
                  <a:srgbClr val="FFFFFF"/>
                </a:solidFill>
                <a:latin typeface="Arial Black"/>
              </a:rPr>
              <a:t>45-day closings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1144" y="5029200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4B2"/>
                </a:solidFill>
                <a:latin typeface="Arial"/>
              </a:rPr>
              <a:t>Run like a specialist team, not a one-off transaction.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46136" y="4114800"/>
            <a:ext cx="3429000" cy="1572768"/>
          </a:xfrm>
          <a:prstGeom prst="roundRect">
            <a:avLst>
              <a:gd name="adj" fmla="val 8139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0456" y="4288536"/>
            <a:ext cx="365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B4F319"/>
                </a:solidFill>
                <a:latin typeface="Arial Unicode M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95944" y="4325112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76"/>
              </a:spcAft>
            </a:pPr>
            <a:r>
              <a:rPr sz="1550" b="0" i="0">
                <a:solidFill>
                  <a:srgbClr val="FFFFFF"/>
                </a:solidFill>
                <a:latin typeface="Arial Black"/>
              </a:rPr>
              <a:t>The Realtor Referral Network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1" y="5029200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4B2"/>
                </a:solidFill>
                <a:latin typeface="Arial"/>
              </a:rPr>
              <a:t>We send hard deals to you, and handle the loan side end to end.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F319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B4F319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45720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B4F319"/>
                </a:solidFill>
                <a:latin typeface="Arial Black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4160520" y="1874519"/>
            <a:ext cx="27432" cy="3108960"/>
          </a:xfrm>
          <a:prstGeom prst="rect">
            <a:avLst/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33172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40"/>
              </a:spcAft>
            </a:pPr>
            <a:r>
              <a:rPr sz="1500" b="1" i="0">
                <a:solidFill>
                  <a:srgbClr val="ECC371"/>
                </a:solidFill>
                <a:latin typeface="Arial"/>
              </a:rPr>
              <a:t>PART FIVE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788920"/>
            <a:ext cx="70408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Arial Black"/>
              </a:rPr>
              <a:t>Marketing </a:t>
            </a:r>
            <a:r>
              <a:rPr sz="4000" b="0" i="0">
                <a:solidFill>
                  <a:srgbClr val="B4F319"/>
                </a:solidFill>
                <a:latin typeface="Arial Black"/>
              </a:rPr>
              <a:t>magic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F319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B4F319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75488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20"/>
              </a:spcAft>
            </a:pPr>
            <a:r>
              <a:rPr sz="1300" b="1" i="0">
                <a:solidFill>
                  <a:srgbClr val="CBA24A"/>
                </a:solidFill>
                <a:latin typeface="Arial"/>
              </a:rPr>
              <a:t>FOR BUYER ATTRACTION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1521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1A1D23"/>
                </a:solidFill>
                <a:latin typeface="Arial Black"/>
              </a:rPr>
              <a:t>One post to </a:t>
            </a:r>
            <a:r>
              <a:rPr sz="2900" b="0" i="0">
                <a:solidFill>
                  <a:srgbClr val="5E8A1F"/>
                </a:solidFill>
                <a:latin typeface="Arial Black"/>
              </a:rPr>
              <a:t>revive dead leads</a:t>
            </a:r>
            <a:r>
              <a:rPr sz="2900" b="0" i="0">
                <a:solidFill>
                  <a:srgbClr val="1A1D23"/>
                </a:solidFill>
                <a:latin typeface="Arial Black"/>
              </a:rPr>
              <a:t> — and find new ones.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48840"/>
            <a:ext cx="61264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1800"/>
              </a:spcAft>
            </a:pPr>
            <a:r>
              <a:rPr sz="1650" b="0" i="0">
                <a:solidFill>
                  <a:srgbClr val="5B6470"/>
                </a:solidFill>
                <a:latin typeface="Arial"/>
              </a:rPr>
              <a:t>Every agent has a graveyard of buyers who 'gave up.' This is the post that wakes them up: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152"/>
              </a:spcAft>
            </a:pPr>
            <a:r>
              <a:rPr sz="1550" b="1" i="0">
                <a:solidFill>
                  <a:srgbClr val="5E8A1F"/>
                </a:solidFill>
                <a:latin typeface="Arial"/>
              </a:rPr>
              <a:t>✓  </a:t>
            </a:r>
            <a:r>
              <a:rPr sz="1550" b="0" i="0">
                <a:solidFill>
                  <a:srgbClr val="1A1D23"/>
                </a:solidFill>
                <a:latin typeface="Arial"/>
              </a:rPr>
              <a:t>Speaks directly to the priced-out and the outbid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152"/>
              </a:spcAft>
            </a:pPr>
            <a:r>
              <a:rPr sz="1550" b="1" i="0">
                <a:solidFill>
                  <a:srgbClr val="5E8A1F"/>
                </a:solidFill>
                <a:latin typeface="Arial"/>
              </a:rPr>
              <a:t>✓  </a:t>
            </a:r>
            <a:r>
              <a:rPr sz="1550" b="0" i="0">
                <a:solidFill>
                  <a:srgbClr val="1A1D23"/>
                </a:solidFill>
                <a:latin typeface="Arial"/>
              </a:rPr>
              <a:t>Reframes 'fixer' as opportunity, not burden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152"/>
              </a:spcAft>
            </a:pPr>
            <a:r>
              <a:rPr sz="1550" b="1" i="0">
                <a:solidFill>
                  <a:srgbClr val="5E8A1F"/>
                </a:solidFill>
                <a:latin typeface="Arial"/>
              </a:rPr>
              <a:t>✓  </a:t>
            </a:r>
            <a:r>
              <a:rPr sz="1550" b="0" i="0">
                <a:solidFill>
                  <a:srgbClr val="1A1D23"/>
                </a:solidFill>
                <a:latin typeface="Arial"/>
              </a:rPr>
              <a:t>Ends with one simple, low-pressure call to action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E8A1F"/>
                </a:solidFill>
                <a:latin typeface="Arial"/>
              </a:rPr>
              <a:t>Post it once. Watch who comes out of the woodwork.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103120"/>
            <a:ext cx="4023360" cy="3977639"/>
          </a:xfrm>
          <a:prstGeom prst="roundRect">
            <a:avLst>
              <a:gd name="adj" fmla="val 4137"/>
            </a:avLst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955279" y="2423160"/>
            <a:ext cx="3383280" cy="502920"/>
          </a:xfrm>
          <a:prstGeom prst="roundRect">
            <a:avLst>
              <a:gd name="adj" fmla="val 18181"/>
            </a:avLst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92440" y="2514600"/>
            <a:ext cx="320040" cy="320040"/>
          </a:xfrm>
          <a:prstGeom prst="ellipse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487168"/>
            <a:ext cx="2560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Team Rizzolo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1089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96"/>
              </a:spcAft>
            </a:pPr>
            <a:r>
              <a:rPr sz="1550" b="1" i="0">
                <a:solidFill>
                  <a:srgbClr val="FFFFFF"/>
                </a:solidFill>
                <a:latin typeface="Arial"/>
              </a:rPr>
              <a:t>Want a house but hate what you can afford — or keep getting outbid?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931920"/>
            <a:ext cx="3383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1296"/>
              </a:spcAft>
            </a:pPr>
            <a:r>
              <a:rPr sz="1300" b="0" i="0">
                <a:solidFill>
                  <a:srgbClr val="9AA4B2"/>
                </a:solidFill>
                <a:latin typeface="Arial"/>
              </a:rPr>
              <a:t>There's a way to buy the ugliest house in the best neighborhood, renovate it your way, and roll it all into one loan — with as little as 3.5% down and no reno money out of pocket.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544068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544068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720"/>
              </a:spcAft>
            </a:pPr>
            <a:r>
              <a:rPr sz="1300" b="1" i="0">
                <a:solidFill>
                  <a:srgbClr val="0F1319"/>
                </a:solidFill>
                <a:latin typeface="Arial"/>
              </a:rPr>
              <a:t>DM me “203K” 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8A1F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470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5E8A1F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75488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20"/>
              </a:spcAft>
            </a:pPr>
            <a:r>
              <a:rPr sz="1300" b="1" i="0">
                <a:solidFill>
                  <a:srgbClr val="CBA24A"/>
                </a:solidFill>
                <a:latin typeface="Arial"/>
              </a:rPr>
              <a:t>FOR YOUR LISTINGS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1155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>
                <a:solidFill>
                  <a:srgbClr val="1A1D23"/>
                </a:solidFill>
                <a:latin typeface="Arial Black"/>
              </a:rPr>
              <a:t>Turn “needs TLC” into </a:t>
            </a:r>
            <a:r>
              <a:rPr sz="3300" b="0" i="0">
                <a:solidFill>
                  <a:srgbClr val="5E8A1F"/>
                </a:solidFill>
                <a:latin typeface="Arial Black"/>
              </a:rPr>
              <a:t>top dollar.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14884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3774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80"/>
              </a:spcAft>
            </a:pPr>
            <a:r>
              <a:rPr sz="1300" b="1" i="0">
                <a:solidFill>
                  <a:srgbClr val="D64545"/>
                </a:solidFill>
                <a:latin typeface="Arial"/>
              </a:rPr>
              <a:t>THE OLD, TIRED LISTING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83464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1A1D23"/>
                </a:solidFill>
                <a:latin typeface="Georgia"/>
              </a:rPr>
              <a:t>“Needs TLC. Handyman special. Sold as-is, cash only.”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16052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EEF6E3"/>
          </a:solidFill>
          <a:ln w="12700">
            <a:solidFill>
              <a:srgbClr val="8CC6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3891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80"/>
              </a:spcAft>
            </a:pPr>
            <a:r>
              <a:rPr sz="1300" b="1" i="0">
                <a:solidFill>
                  <a:srgbClr val="5E8A1F"/>
                </a:solidFill>
                <a:latin typeface="Arial"/>
              </a:rPr>
              <a:t>THE TOP-DOLLAR REWRITE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828032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1A1D23"/>
                </a:solidFill>
                <a:latin typeface="Georgia"/>
              </a:rPr>
              <a:t>“203(k)/Reno-eligible — build instant equity and customize your dream home with no renovation money out of pocket. Financing available.”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48840"/>
            <a:ext cx="5303520" cy="2788920"/>
          </a:xfrm>
          <a:prstGeom prst="roundRect">
            <a:avLst>
              <a:gd name="adj" fmla="val 459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4688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80"/>
              </a:spcAft>
            </a:pPr>
            <a:r>
              <a:rPr sz="1800" b="0" i="0">
                <a:solidFill>
                  <a:srgbClr val="1A1D23"/>
                </a:solidFill>
                <a:latin typeface="Arial Black"/>
              </a:rPr>
              <a:t>At the open house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2" y="3072384"/>
            <a:ext cx="310896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5E8A1F"/>
                </a:solidFill>
                <a:latin typeface="Arial Unicode M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108960"/>
            <a:ext cx="42976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5B6470"/>
                </a:solidFill>
                <a:latin typeface="Arial"/>
              </a:rPr>
              <a:t>Display AI 'after' renderings beside the real rooms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2552" y="3493008"/>
            <a:ext cx="310896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5E8A1F"/>
                </a:solidFill>
                <a:latin typeface="Arial Unicode M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529584"/>
            <a:ext cx="42976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5B6470"/>
                </a:solidFill>
                <a:latin typeface="Arial"/>
              </a:rPr>
              <a:t>Hand out a pre-drawn contractor bid and budget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2552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5E8A1F"/>
                </a:solidFill>
                <a:latin typeface="Arial Unicode M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950208"/>
            <a:ext cx="42976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5B6470"/>
                </a:solidFill>
                <a:latin typeface="Arial"/>
              </a:rPr>
              <a:t>Pitch the vision — not the current condition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2" y="4334256"/>
            <a:ext cx="310896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5E8A1F"/>
                </a:solidFill>
                <a:latin typeface="Arial Unicode M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370832"/>
            <a:ext cx="42976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20"/>
              </a:spcAft>
            </a:pPr>
            <a:r>
              <a:rPr sz="1450" b="0" i="0">
                <a:solidFill>
                  <a:srgbClr val="5B6470"/>
                </a:solidFill>
                <a:latin typeface="Arial"/>
              </a:rPr>
              <a:t>Attract buyers other agents scared away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5120640"/>
            <a:ext cx="5303520" cy="960120"/>
          </a:xfrm>
          <a:prstGeom prst="roundRect">
            <a:avLst>
              <a:gd name="adj" fmla="val 13333"/>
            </a:avLst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5120640"/>
            <a:ext cx="46634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FFFFF"/>
                </a:solidFill>
                <a:latin typeface="Georgia"/>
              </a:rPr>
              <a:t>Sellers get more. Buyers see the dream. You control both sides of the story.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8A1F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470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5E8A1F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a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502920"/>
            <a:ext cx="283464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75488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20"/>
              </a:spcAft>
            </a:pPr>
            <a:r>
              <a:rPr sz="1300" b="1" i="0">
                <a:solidFill>
                  <a:srgbClr val="ECC371"/>
                </a:solidFill>
                <a:latin typeface="Arial"/>
              </a:rPr>
              <a:t>A PARTNERSHIP, NOT A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79552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FFFFFF"/>
                </a:solidFill>
                <a:latin typeface="Arial Black"/>
              </a:rPr>
              <a:t>Join the </a:t>
            </a:r>
            <a:r>
              <a:rPr sz="3200" b="0" i="0">
                <a:solidFill>
                  <a:srgbClr val="B4F319"/>
                </a:solidFill>
                <a:latin typeface="Arial Black"/>
              </a:rPr>
              <a:t>203k Way Realtor Referral Network.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146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9AA4B2"/>
                </a:solidFill>
                <a:latin typeface="Arial"/>
              </a:rPr>
              <a:t>You bring the client relationship. We bring the strategy, the contractors, and the close.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383280"/>
            <a:ext cx="3429000" cy="2331720"/>
          </a:xfrm>
          <a:prstGeom prst="roundRect">
            <a:avLst>
              <a:gd name="adj" fmla="val 549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64"/>
              </a:spcAft>
            </a:pPr>
            <a:r>
              <a:rPr sz="1900" b="0" i="0">
                <a:solidFill>
                  <a:srgbClr val="B4F319"/>
                </a:solidFill>
                <a:latin typeface="Arial Black"/>
              </a:rPr>
              <a:t>You 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42816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A4B2"/>
                </a:solidFill>
                <a:latin typeface="Arial"/>
              </a:rPr>
              <a:t>Deal strategy, AI renders, contractor intros, and co-branded marketing you can use tomorrow.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3383280"/>
            <a:ext cx="3429000" cy="2331720"/>
          </a:xfrm>
          <a:prstGeom prst="roundRect">
            <a:avLst>
              <a:gd name="adj" fmla="val 549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36576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64"/>
              </a:spcAft>
            </a:pPr>
            <a:r>
              <a:rPr sz="1900" b="0" i="0">
                <a:solidFill>
                  <a:srgbClr val="B4F319"/>
                </a:solidFill>
                <a:latin typeface="Arial Black"/>
              </a:rPr>
              <a:t>Your client 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4242816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A4B2"/>
                </a:solidFill>
                <a:latin typeface="Arial"/>
              </a:rPr>
              <a:t>A specialist team that closes hard deals in 45 days — and makes you look brilliant.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46136" y="3383280"/>
            <a:ext cx="3429000" cy="2331720"/>
          </a:xfrm>
          <a:prstGeom prst="roundRect">
            <a:avLst>
              <a:gd name="adj" fmla="val 549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5" y="36576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64"/>
              </a:spcAft>
            </a:pPr>
            <a:r>
              <a:rPr sz="1900" b="0" i="0">
                <a:solidFill>
                  <a:srgbClr val="B4F319"/>
                </a:solidFill>
                <a:latin typeface="Arial Black"/>
              </a:rPr>
              <a:t>We 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5" y="4242816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A4B2"/>
                </a:solidFill>
                <a:latin typeface="Arial"/>
              </a:rPr>
              <a:t>To do what we do best: the loan — while you stay focused on guiding and negotiating.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F319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B4F319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822960"/>
            <a:ext cx="3840480" cy="960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2148840"/>
            <a:ext cx="6675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Arial Black"/>
              </a:rPr>
              <a:t>Want the scripts, the cheat sheet, and these slides?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566160"/>
            <a:ext cx="6400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9AA4B2"/>
                </a:solidFill>
                <a:latin typeface="Arial"/>
              </a:rPr>
              <a:t>Scan the code to grab the exact buyer &amp; seller scripts, the Realtor 203(k) cheat sheet, and a copy of this deck — and to join the Referral Network.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074920"/>
            <a:ext cx="6400800" cy="1234440"/>
          </a:xfrm>
          <a:prstGeom prst="roundRect">
            <a:avLst>
              <a:gd name="adj" fmla="val 1037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074920"/>
            <a:ext cx="576072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64"/>
              </a:spcAft>
            </a:pPr>
            <a:r>
              <a:rPr sz="1500" b="1" i="0">
                <a:solidFill>
                  <a:srgbClr val="ECC371"/>
                </a:solidFill>
                <a:latin typeface="Arial"/>
              </a:rPr>
              <a:t>Salvatore Rizzolo</a:t>
            </a:r>
            <a:r>
              <a:rPr sz="1500" b="0" i="0">
                <a:solidFill>
                  <a:srgbClr val="9AA4B2"/>
                </a:solidFill>
                <a:latin typeface="Arial"/>
              </a:rPr>
              <a:t>   ·   Branch Manager, New American Funding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631.846.3886</a:t>
            </a:r>
            <a:r>
              <a:rPr sz="1400" b="0" i="0">
                <a:solidFill>
                  <a:srgbClr val="FFFFFF"/>
                </a:solidFill>
                <a:latin typeface="Arial"/>
              </a:rPr>
              <a:t>      srizzolo@nafinc.com</a:t>
            </a:r>
            <a:r>
              <a:rPr sz="1400" b="0" i="0">
                <a:solidFill>
                  <a:srgbClr val="9AA4B2"/>
                </a:solidFill>
                <a:latin typeface="Arial"/>
              </a:rPr>
              <a:t>      NMLS #1927344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240280"/>
            <a:ext cx="3246120" cy="3246120"/>
          </a:xfrm>
          <a:prstGeom prst="roundRect">
            <a:avLst>
              <a:gd name="adj" fmla="val 39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468880"/>
            <a:ext cx="2788920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2480" y="55778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4F319"/>
                </a:solidFill>
                <a:latin typeface="Arial"/>
              </a:rPr>
              <a:t>Scan 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F319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B4F319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088" y="685800"/>
            <a:ext cx="1645920" cy="1755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2743200"/>
            <a:ext cx="121916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720"/>
              </a:spcAft>
            </a:pPr>
            <a:r>
              <a:rPr sz="5600" b="0" i="0">
                <a:solidFill>
                  <a:srgbClr val="FFFFFF"/>
                </a:solidFill>
                <a:latin typeface="Arial Black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49039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B4F319"/>
                </a:solidFill>
                <a:latin typeface="Georgia"/>
              </a:rPr>
              <a:t>Let's turn your next “sold as-is” into your best deal of the year.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4526280"/>
            <a:ext cx="5971032" cy="18288"/>
          </a:xfrm>
          <a:prstGeom prst="rect">
            <a:avLst/>
          </a:prstGeom>
          <a:solidFill>
            <a:srgbClr val="21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800600"/>
            <a:ext cx="12191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1008"/>
              </a:spcAft>
            </a:pPr>
            <a:r>
              <a:rPr sz="1600" b="1" i="0">
                <a:solidFill>
                  <a:srgbClr val="ECC371"/>
                </a:solidFill>
                <a:latin typeface="Arial"/>
              </a:rPr>
              <a:t>Salvatore Rizzolo</a:t>
            </a:r>
            <a:r>
              <a:rPr sz="1600" b="0" i="0">
                <a:solidFill>
                  <a:srgbClr val="9AA4B2"/>
                </a:solidFill>
                <a:latin typeface="Arial"/>
              </a:rPr>
              <a:t>   ·   Branch Manager, New American Funding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631.846.3886      srizzolo@nafinc.com      NMLS #1927344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80644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AA4B2"/>
                </a:solidFill>
                <a:latin typeface="Georgia"/>
              </a:rPr>
              <a:t>“Numbers don't lie. People do. Results don't.”  — Frank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F319"/>
                </a:solidFill>
                <a:latin typeface="Arial Black"/>
              </a:rPr>
              <a:t>203k</a:t>
            </a:r>
            <a:r>
              <a:rPr sz="1200" b="1" i="1">
                <a:solidFill>
                  <a:srgbClr val="CBA24A"/>
                </a:solidFill>
                <a:latin typeface="Georgia"/>
              </a:rPr>
              <a:t>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6992" y="6428232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TEAM RIZZOLO  ·  </a:t>
            </a:r>
            <a:r>
              <a:rPr sz="1050" b="1" i="0">
                <a:solidFill>
                  <a:srgbClr val="B4F319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